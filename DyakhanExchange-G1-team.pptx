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870a3d095af4def" /><Relationship Type="http://schemas.openxmlformats.org/officeDocument/2006/relationships/extended-properties" Target="/docProps/app.xml" Id="R08c761a48a324faf" /><Relationship Type="http://schemas.openxmlformats.org/officeDocument/2006/relationships/officeDocument" Target="/ppt/presentation.xml" Id="Rcdda1c06ff96472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62ca1538e374799"/>
  </p:sldMasterIdLst>
  <p:notesMasterIdLst>
    <p:notesMasterId xmlns:r="http://schemas.openxmlformats.org/officeDocument/2006/relationships" r:id="R2deb11418b3440d3"/>
  </p:notesMasterIdLst>
  <p:sldIdLst>
    <p:sldId xmlns:r="http://schemas.openxmlformats.org/officeDocument/2006/relationships" id="256" r:id="R48a53530484646b1"/>
    <p:sldId xmlns:r="http://schemas.openxmlformats.org/officeDocument/2006/relationships" id="257" r:id="R0ce115eb1e7a4b8b"/>
    <p:sldId xmlns:r="http://schemas.openxmlformats.org/officeDocument/2006/relationships" id="258" r:id="R489a27345939404b"/>
    <p:sldId xmlns:r="http://schemas.openxmlformats.org/officeDocument/2006/relationships" id="259" r:id="R336b0c2be38e473b"/>
    <p:sldId xmlns:r="http://schemas.openxmlformats.org/officeDocument/2006/relationships" id="260" r:id="Rc3876777d8c14f01"/>
    <p:sldId xmlns:r="http://schemas.openxmlformats.org/officeDocument/2006/relationships" id="261" r:id="R468fd5975e7a4a72"/>
    <p:sldId xmlns:r="http://schemas.openxmlformats.org/officeDocument/2006/relationships" id="262" r:id="R00073d85aef5468d"/>
    <p:sldId xmlns:r="http://schemas.openxmlformats.org/officeDocument/2006/relationships" id="263" r:id="Rc1f5d723bb344010"/>
    <p:sldId xmlns:r="http://schemas.openxmlformats.org/officeDocument/2006/relationships" id="264" r:id="R3390f6d947f94bfb"/>
    <p:sldId xmlns:r="http://schemas.openxmlformats.org/officeDocument/2006/relationships" id="265" r:id="R561868070cbf4038"/>
    <p:sldId xmlns:r="http://schemas.openxmlformats.org/officeDocument/2006/relationships" id="266" r:id="R6faaf5c7672a4155"/>
    <p:sldId xmlns:r="http://schemas.openxmlformats.org/officeDocument/2006/relationships" id="267" r:id="R5b8f3c15b38c4f0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a322c9f27c04d3a" /><Relationship Type="http://schemas.openxmlformats.org/officeDocument/2006/relationships/slideMaster" Target="/ppt/slideMasters/slideMaster1.xml" Id="R462ca1538e374799" /><Relationship Type="http://schemas.openxmlformats.org/officeDocument/2006/relationships/notesMaster" Target="/ppt/notesMasters/notesMaster1.xml" Id="R2deb11418b3440d3" /><Relationship Type="http://schemas.openxmlformats.org/officeDocument/2006/relationships/presProps" Target="/ppt/presProps.xml" Id="R687f112802424dfe" /><Relationship Type="http://schemas.openxmlformats.org/officeDocument/2006/relationships/tableStyles" Target="/ppt/tableStyles.xml" Id="R625222bbd1fb4b3d" /><Relationship Type="http://schemas.openxmlformats.org/officeDocument/2006/relationships/slide" Target="/ppt/slides/slide1.xml" Id="R48a53530484646b1" /><Relationship Type="http://schemas.openxmlformats.org/officeDocument/2006/relationships/slide" Target="/ppt/slides/slide2.xml" Id="R0ce115eb1e7a4b8b" /><Relationship Type="http://schemas.openxmlformats.org/officeDocument/2006/relationships/slide" Target="/ppt/slides/slide3.xml" Id="R489a27345939404b" /><Relationship Type="http://schemas.openxmlformats.org/officeDocument/2006/relationships/slide" Target="/ppt/slides/slide4.xml" Id="R336b0c2be38e473b" /><Relationship Type="http://schemas.openxmlformats.org/officeDocument/2006/relationships/slide" Target="/ppt/slides/slide5.xml" Id="Rc3876777d8c14f01" /><Relationship Type="http://schemas.openxmlformats.org/officeDocument/2006/relationships/slide" Target="/ppt/slides/slide6.xml" Id="R468fd5975e7a4a72" /><Relationship Type="http://schemas.openxmlformats.org/officeDocument/2006/relationships/slide" Target="/ppt/slides/slide7.xml" Id="R00073d85aef5468d" /><Relationship Type="http://schemas.openxmlformats.org/officeDocument/2006/relationships/slide" Target="/ppt/slides/slide8.xml" Id="Rc1f5d723bb344010" /><Relationship Type="http://schemas.openxmlformats.org/officeDocument/2006/relationships/slide" Target="/ppt/slides/slide9.xml" Id="R3390f6d947f94bfb" /><Relationship Type="http://schemas.openxmlformats.org/officeDocument/2006/relationships/slide" Target="/ppt/slides/slide10.xml" Id="R561868070cbf4038" /><Relationship Type="http://schemas.openxmlformats.org/officeDocument/2006/relationships/slide" Target="/ppt/slides/slide11.xml" Id="R6faaf5c7672a4155" /><Relationship Type="http://schemas.openxmlformats.org/officeDocument/2006/relationships/slide" Target="/ppt/slides/slide12.xml" Id="R5b8f3c15b38c4f0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d511400e494441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145a16ed9e3456a" /><Relationship Type="http://schemas.openxmlformats.org/officeDocument/2006/relationships/notesMaster" Target="/ppt/notesMasters/notesMaster1.xml" Id="R38c893f7d5594cb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2b21bf36c324336" /><Relationship Type="http://schemas.openxmlformats.org/officeDocument/2006/relationships/notesMaster" Target="/ppt/notesMasters/notesMaster1.xml" Id="R8fae25cd9f41403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188731347d14a25" /><Relationship Type="http://schemas.openxmlformats.org/officeDocument/2006/relationships/notesMaster" Target="/ppt/notesMasters/notesMaster1.xml" Id="R77da815fb08c4c5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e4c3bdf71f241c7" /><Relationship Type="http://schemas.openxmlformats.org/officeDocument/2006/relationships/notesMaster" Target="/ppt/notesMasters/notesMaster1.xml" Id="R0fc29980536d472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282650ab9a84cbb" /><Relationship Type="http://schemas.openxmlformats.org/officeDocument/2006/relationships/notesMaster" Target="/ppt/notesMasters/notesMaster1.xml" Id="Rc74274a14c5a444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a9d97faf43d412c" /><Relationship Type="http://schemas.openxmlformats.org/officeDocument/2006/relationships/notesMaster" Target="/ppt/notesMasters/notesMaster1.xml" Id="Rdda19293637b4e2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f0e348bc1e04aab" /><Relationship Type="http://schemas.openxmlformats.org/officeDocument/2006/relationships/notesMaster" Target="/ppt/notesMasters/notesMaster1.xml" Id="Ra445cd808835492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ced2419c6db4f16" /><Relationship Type="http://schemas.openxmlformats.org/officeDocument/2006/relationships/notesMaster" Target="/ppt/notesMasters/notesMaster1.xml" Id="Rd039f2fd4cb64c9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c21e53575b542f4" /><Relationship Type="http://schemas.openxmlformats.org/officeDocument/2006/relationships/notesMaster" Target="/ppt/notesMasters/notesMaster1.xml" Id="R2b3a3545a72140c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3befb71eba54977" /><Relationship Type="http://schemas.openxmlformats.org/officeDocument/2006/relationships/notesMaster" Target="/ppt/notesMasters/notesMaster1.xml" Id="R6eaab18ac167498c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41002b155694fb7" /><Relationship Type="http://schemas.openxmlformats.org/officeDocument/2006/relationships/notesMaster" Target="/ppt/notesMasters/notesMaster1.xml" Id="Re985f07296ef41f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935ccca73b634057" /><Relationship Type="http://schemas.openxmlformats.org/officeDocument/2006/relationships/notesMaster" Target="/ppt/notesMasters/notesMaster1.xml" Id="Rdd0da111bed249a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 требований: https://github.com/stepancar-web-programming/readme/blob/master/PROJECT.md. КУМcoin является только игровой валютой.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Архитектура является предложением для согласования с преподавателем. Требование курса: минимальный backend на Node.js; Spring Core остаётся целевым backend.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Детальный аудит хранится в docs/preparation-audit.md. Владельцы задач: Ян, Даниил и Матвей. Не отмечать внешние действия выполненными до появления ссылки, протокола или ответа преподавателя.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98e9f7d3b2c42a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d6c2c3b8bf44670" /><Relationship Type="http://schemas.openxmlformats.org/officeDocument/2006/relationships/slideLayout" Target="/ppt/slideLayouts/slideLayout1.xml" Id="R6c8eb9da048747c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c8eb9da048747c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4cfe65fb834046" /><Relationship Type="http://schemas.openxmlformats.org/officeDocument/2006/relationships/notesSlide" Target="/ppt/notesSlides/notesSlide1.xml" Id="R92f819a79512458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575726980e4b8f" /><Relationship Type="http://schemas.openxmlformats.org/officeDocument/2006/relationships/notesSlide" Target="/ppt/notesSlides/notesSlide2.xml" Id="R5703104b04714ae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f2736badd04ac5" /><Relationship Type="http://schemas.openxmlformats.org/officeDocument/2006/relationships/notesSlide" Target="/ppt/notesSlides/notesSlide3.xml" Id="Rb8b6199514ef49a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4065b5d5ed4bac" /><Relationship Type="http://schemas.openxmlformats.org/officeDocument/2006/relationships/notesSlide" Target="/ppt/notesSlides/notesSlide4.xml" Id="R5f223e6c20a84b7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71c3b6532d4bef" /><Relationship Type="http://schemas.openxmlformats.org/officeDocument/2006/relationships/notesSlide" Target="/ppt/notesSlides/notesSlide5.xml" Id="Rdb2cf06358d7469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f50590409c4031" /><Relationship Type="http://schemas.openxmlformats.org/officeDocument/2006/relationships/notesSlide" Target="/ppt/notesSlides/notesSlide6.xml" Id="Rd972e8ba5b084b5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7a06d3d2dd4351" /><Relationship Type="http://schemas.openxmlformats.org/officeDocument/2006/relationships/notesSlide" Target="/ppt/notesSlides/notesSlide7.xml" Id="R300e14aa8bb1493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65e61f92fa4eb7" /><Relationship Type="http://schemas.openxmlformats.org/officeDocument/2006/relationships/notesSlide" Target="/ppt/notesSlides/notesSlide8.xml" Id="Rc6ba9824347440b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dbe1539ffc49ec" /><Relationship Type="http://schemas.openxmlformats.org/officeDocument/2006/relationships/notesSlide" Target="/ppt/notesSlides/notesSlide9.xml" Id="R2f9ed6b56eb24d5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e8af81e60f4c0e" /><Relationship Type="http://schemas.openxmlformats.org/officeDocument/2006/relationships/notesSlide" Target="/ppt/notesSlides/notesSlide10.xml" Id="R6fffcc0c9504489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63e922112f4ee1" /><Relationship Type="http://schemas.openxmlformats.org/officeDocument/2006/relationships/notesSlide" Target="/ppt/notesSlides/notesSlide11.xml" Id="R6c70230a44b74f7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bf8286e47445cf" /><Relationship Type="http://schemas.openxmlformats.org/officeDocument/2006/relationships/notesSlide" Target="/ppt/notesSlides/notesSlide12.xml" Id="R3e1cdbe0a4124e1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0C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8BF0AE9-5A8B-4AF1-9C87-597EF342E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0"/>
            <a:ext cx="4381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FF37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D17312-6217-4EE1-B0B4-0A2441FC7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1276350"/>
            <a:ext cx="400050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250" b="1" i="0">
                <a:solidFill>
                  <a:srgbClr val="0B0C0D"/>
                </a:solidFill>
                <a:latin typeface="Arial"/>
                <a:ea typeface="Arial"/>
                <a:cs typeface="Arial"/>
              </a:defRPr>
            </a:pPr>
            <a:r>
              <a:rPr sz="8250" b="1" i="0">
                <a:solidFill>
                  <a:srgbClr val="0B0C0D"/>
                </a:solidFill>
                <a:latin typeface="Arial"/>
                <a:ea typeface="Arial"/>
                <a:cs typeface="Arial"/>
              </a:rPr>
              <a:t>КУМ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0AADB45-DDB5-4082-931D-EEEC34BC4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857500"/>
            <a:ext cx="40005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5550" b="1" i="0">
                <a:solidFill>
                  <a:srgbClr val="0B0C0D"/>
                </a:solidFill>
                <a:latin typeface="Arial"/>
                <a:ea typeface="Arial"/>
                <a:cs typeface="Arial"/>
              </a:defRPr>
            </a:pPr>
            <a:r>
              <a:rPr sz="5550" b="1" i="0">
                <a:solidFill>
                  <a:srgbClr val="0B0C0D"/>
                </a:solidFill>
                <a:latin typeface="Arial"/>
                <a:ea typeface="Arial"/>
                <a:cs typeface="Arial"/>
              </a:rPr>
              <a:t>COIN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D4EFAE-5530-4F73-BB6D-FA8F1B596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619625"/>
            <a:ext cx="3714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475" b="1" i="0">
                <a:solidFill>
                  <a:srgbClr val="0B0C0D"/>
                </a:solidFill>
                <a:latin typeface="Arial"/>
                <a:ea typeface="Arial"/>
                <a:cs typeface="Arial"/>
              </a:defRPr>
            </a:pPr>
            <a:r>
              <a:rPr sz="2475" b="1" i="0">
                <a:solidFill>
                  <a:srgbClr val="0B0C0D"/>
                </a:solidFill>
                <a:latin typeface="Arial"/>
                <a:ea typeface="Arial"/>
                <a:cs typeface="Arial"/>
              </a:rPr>
              <a:t>228.13 ₽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318570-C190-4E10-83BD-0F9E66DB6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191125"/>
            <a:ext cx="3714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0B0C0D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0B0C0D"/>
                </a:solidFill>
                <a:latin typeface="Arial"/>
                <a:ea typeface="Arial"/>
                <a:cs typeface="Arial"/>
              </a:rPr>
              <a:t>+13.37%. ИНДЕКС ДОВЕРИЯ 3%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6FAFB42-0291-447D-B1DA-929EA353B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905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D9FF37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D9FF37"/>
                </a:solidFill>
                <a:latin typeface="Arial"/>
                <a:ea typeface="Arial"/>
                <a:cs typeface="Arial"/>
              </a:rPr>
              <a:t>КУРСОВОЙ ПРОЕКТ, G1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0D1E10B-054C-4394-9414-3360C5A16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371600"/>
            <a:ext cx="64770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5400" b="1" i="0">
                <a:solidFill>
                  <a:srgbClr val="F1F0E9"/>
                </a:solidFill>
                <a:latin typeface="Arial"/>
                <a:ea typeface="Arial"/>
                <a:cs typeface="Arial"/>
              </a:defRPr>
            </a:pPr>
            <a:r>
              <a:rPr sz="5400" b="1" i="0">
                <a:solidFill>
                  <a:srgbClr val="F1F0E9"/>
                </a:solidFill>
                <a:latin typeface="Arial"/>
                <a:ea typeface="Arial"/>
                <a:cs typeface="Arial"/>
              </a:rPr>
              <a:t>ДЯХАН</a:t>
            </a:r>
          </a:p>
          <a:p xmlns:a="http://schemas.openxmlformats.org/drawingml/2006/main">
            <a:pPr algn="l">
              <a:defRPr sz="5400" b="1" i="0">
                <a:solidFill>
                  <a:srgbClr val="F1F0E9"/>
                </a:solidFill>
                <a:latin typeface="Arial"/>
                <a:ea typeface="Arial"/>
                <a:cs typeface="Arial"/>
              </a:defRPr>
            </a:pPr>
            <a:r>
              <a:rPr sz="5400" b="1" i="0">
                <a:solidFill>
                  <a:srgbClr val="F1F0E9"/>
                </a:solidFill>
                <a:latin typeface="Arial"/>
                <a:ea typeface="Arial"/>
                <a:cs typeface="Arial"/>
              </a:rPr>
              <a:t>EXCHANGE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9200C18-FA4B-4E61-BCE3-AA2AA1C17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286125"/>
            <a:ext cx="5619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 i="0">
                <a:solidFill>
                  <a:srgbClr val="A4A6A1"/>
                </a:solidFill>
                <a:latin typeface="Arial"/>
                <a:ea typeface="Arial"/>
                <a:cs typeface="Arial"/>
              </a:defRPr>
            </a:pPr>
            <a:r>
              <a:rPr sz="1950" b="1" i="0">
                <a:solidFill>
                  <a:srgbClr val="A4A6A1"/>
                </a:solidFill>
                <a:latin typeface="Arial"/>
                <a:ea typeface="Arial"/>
                <a:cs typeface="Arial"/>
              </a:rPr>
              <a:t>Крипто-биржа-пародия с монетой КУМcoin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43946D1-D527-4485-B6CF-63A8A1781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43400"/>
            <a:ext cx="5524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F1F0E9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F1F0E9"/>
                </a:solidFill>
                <a:latin typeface="Arial"/>
                <a:ea typeface="Arial"/>
                <a:cs typeface="Arial"/>
              </a:rPr>
              <a:t>Экономика держится на мемах, игровых событиях и рандоме. Реальных денег в продукте нет.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50068EA-5D16-4A94-8DE0-937C8F9F6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476875"/>
            <a:ext cx="2381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148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2836465-AC29-4210-91A2-FB23F1C66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6197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F1F0E9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F1F0E9"/>
                </a:solidFill>
                <a:latin typeface="Arial"/>
                <a:ea typeface="Arial"/>
                <a:cs typeface="Arial"/>
              </a:rPr>
              <a:t>Команда: Ян, Даниил, Матвей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7EC132-E0CD-4EAE-8820-8C7A7F708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953125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A4A6A1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A4A6A1"/>
                </a:solidFill>
                <a:latin typeface="Arial"/>
                <a:ea typeface="Arial"/>
                <a:cs typeface="Arial"/>
              </a:rPr>
              <a:t>Защита стартовой точки, 17.09</a:t>
            </a:r>
          </a:p>
        </p:txBody>
      </p:sp>
    </p:spTree>
    <p:extLst>
      <p:ext uri="{BB962C8B-B14F-4D97-AF65-F5344CB8AC3E}">
        <p14:creationId xmlns:p14="http://schemas.microsoft.com/office/powerpoint/2010/main" val="162735242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B0C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585AF60-F764-406D-80E1-CD6D23BFC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33375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D9FF3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D9FF37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AD9140-D25A-47D3-B12A-753E83BEF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66700"/>
            <a:ext cx="10096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 i="0">
                <a:solidFill>
                  <a:srgbClr val="F1F0E9"/>
                </a:solidFill>
                <a:latin typeface="Arial"/>
                <a:ea typeface="Arial"/>
                <a:cs typeface="Arial"/>
              </a:defRPr>
            </a:pPr>
            <a:r>
              <a:rPr sz="2400" b="1" i="0">
                <a:solidFill>
                  <a:srgbClr val="F1F0E9"/>
                </a:solidFill>
                <a:latin typeface="Arial"/>
                <a:ea typeface="Arial"/>
                <a:cs typeface="Arial"/>
              </a:rPr>
              <a:t>Продукт и основная игровая петля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F6DBA6-2F3C-436B-9CDF-FA6585A4F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66775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3634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B43C539-9290-4027-A00E-651865508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2476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1" i="0">
                <a:solidFill>
                  <a:srgbClr val="5B5E5A"/>
                </a:solidFill>
                <a:latin typeface="Arial"/>
                <a:ea typeface="Arial"/>
                <a:cs typeface="Arial"/>
              </a:defRPr>
            </a:pPr>
            <a:r>
              <a:rPr sz="750" b="1" i="0">
                <a:solidFill>
                  <a:srgbClr val="5B5E5A"/>
                </a:solidFill>
                <a:latin typeface="Arial"/>
                <a:ea typeface="Arial"/>
                <a:cs typeface="Arial"/>
              </a:rPr>
              <a:t>ДЯХАНEXCHANGE, G1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46845B-44A7-48A0-82BA-B8EDD8423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7239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1" i="0">
                <a:solidFill>
                  <a:srgbClr val="5B5E5A"/>
                </a:solidFill>
                <a:latin typeface="Arial"/>
                <a:ea typeface="Arial"/>
                <a:cs typeface="Arial"/>
              </a:defRPr>
            </a:pPr>
            <a:r>
              <a:rPr sz="750" b="1" i="0">
                <a:solidFill>
                  <a:srgbClr val="5B5E5A"/>
                </a:solidFill>
                <a:latin typeface="Arial"/>
                <a:ea typeface="Arial"/>
                <a:cs typeface="Arial"/>
              </a:rPr>
              <a:t>17.09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61EE0B6-D52D-4B2D-B37C-222F622AA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43000"/>
            <a:ext cx="10858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A4A6A1"/>
                </a:solidFill>
                <a:latin typeface="Arial"/>
                <a:ea typeface="Arial"/>
                <a:cs typeface="Arial"/>
              </a:defRPr>
            </a:pPr>
            <a:r>
              <a:rPr sz="1875" b="0" i="0">
                <a:solidFill>
                  <a:srgbClr val="A4A6A1"/>
                </a:solidFill>
                <a:latin typeface="Arial"/>
                <a:ea typeface="Arial"/>
                <a:cs typeface="Arial"/>
              </a:rPr>
              <a:t>Пользователь создаёт ценность сам: мемы и реакции двигают вымышленный рынок, а новый раунд всегда даёт повод вернуться.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4EA3376-4761-454C-AD3E-4A2E79934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571750"/>
            <a:ext cx="219075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121415"/>
          </a:solidFill>
          <a:ln xmlns:a="http://schemas.openxmlformats.org/drawingml/2006/main" w="9525">
            <a:solidFill>
              <a:srgbClr val="D9FF37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D9FF3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D9FF37"/>
                </a:solidFill>
                <a:latin typeface="Arial"/>
                <a:ea typeface="Arial"/>
                <a:cs typeface="Arial"/>
              </a:rPr>
              <a:t>ДОБЫТЬ КУМ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75D102-F80B-40FE-BB98-3940FF2B8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571750"/>
            <a:ext cx="228600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121415"/>
          </a:solidFill>
          <a:ln xmlns:a="http://schemas.openxmlformats.org/drawingml/2006/main" w="9525">
            <a:solidFill>
              <a:srgbClr val="FF5148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5148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5148"/>
                </a:solidFill>
                <a:latin typeface="Arial"/>
                <a:ea typeface="Arial"/>
                <a:cs typeface="Arial"/>
              </a:rPr>
              <a:t>РИСКНУТЬ</a:t>
            </a:r>
          </a:p>
          <a:p xmlns:a="http://schemas.openxmlformats.org/drawingml/2006/main">
            <a:pPr algn="ctr">
              <a:defRPr sz="1425" b="1">
                <a:solidFill>
                  <a:srgbClr val="FF5148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5148"/>
                </a:solidFill>
                <a:latin typeface="Arial"/>
                <a:ea typeface="Arial"/>
                <a:cs typeface="Arial"/>
              </a:rPr>
              <a:t>ИЛИ ТОРГОВАТЬ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7E777B5-D1FF-41C0-A9F8-7B2E57CF8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571750"/>
            <a:ext cx="209550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121415"/>
          </a:solidFill>
          <a:ln xmlns:a="http://schemas.openxmlformats.org/drawingml/2006/main" w="9525">
            <a:solidFill>
              <a:srgbClr val="86A8FF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86A8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86A8FF"/>
                </a:solidFill>
                <a:latin typeface="Arial"/>
                <a:ea typeface="Arial"/>
                <a:cs typeface="Arial"/>
              </a:rPr>
              <a:t>ПОЛУЧИТЬ</a:t>
            </a:r>
          </a:p>
          <a:p xmlns:a="http://schemas.openxmlformats.org/drawingml/2006/main">
            <a:pPr algn="ctr">
              <a:defRPr sz="1425" b="1">
                <a:solidFill>
                  <a:srgbClr val="86A8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86A8FF"/>
                </a:solidFill>
                <a:latin typeface="Arial"/>
                <a:ea typeface="Arial"/>
                <a:cs typeface="Arial"/>
              </a:rPr>
              <a:t>СОБЫТИЕ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76D5AC1-0297-42E3-93D6-24F5F2F1F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571750"/>
            <a:ext cx="219075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121415"/>
          </a:solidFill>
          <a:ln xmlns:a="http://schemas.openxmlformats.org/drawingml/2006/main" w="9525">
            <a:solidFill>
              <a:srgbClr val="F1F0E9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1F0E9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1F0E9"/>
                </a:solidFill>
                <a:latin typeface="Arial"/>
                <a:ea typeface="Arial"/>
                <a:cs typeface="Arial"/>
              </a:rPr>
              <a:t>ВЕРНУТЬСЯ</a:t>
            </a:r>
          </a:p>
          <a:p xmlns:a="http://schemas.openxmlformats.org/drawingml/2006/main">
            <a:pPr algn="ctr">
              <a:defRPr sz="1350" b="1">
                <a:solidFill>
                  <a:srgbClr val="F1F0E9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1F0E9"/>
                </a:solidFill>
                <a:latin typeface="Arial"/>
                <a:ea typeface="Arial"/>
                <a:cs typeface="Arial"/>
              </a:rPr>
              <a:t>В НОВЫЙ РАУНД</a:t>
            </a:r>
          </a:p>
        </p:txBody>
      </p:sp>
      <p:cxnSp>
        <p:nvCxnSpPr>
          <p:cNvPr id="28" name=""/>
          <p:cNvCxnSpPr>
            <a:stCxn xmlns:a="http://schemas.openxmlformats.org/drawingml/2006/main" id="7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3048000" y="3095625"/>
            <a:ext cx="5905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D9FF37"/>
            </a:solidFill>
            <a:prstDash val="solid"/>
            <a:tailEnd type="arrow" w="sm" len="sm"/>
          </a:ln>
        </p:spPr>
      </p:cxnSp>
      <p:cxnSp>
        <p:nvCxnSpPr>
          <p:cNvPr id="29" name=""/>
          <p:cNvCxnSpPr>
            <a:stCxn xmlns:a="http://schemas.openxmlformats.org/drawingml/2006/main" id="8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5924550" y="3095625"/>
            <a:ext cx="5905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F5148"/>
            </a:solidFill>
            <a:prstDash val="solid"/>
            <a:tailEnd type="arrow" w="sm" len="sm"/>
          </a:ln>
        </p:spPr>
      </p:cxnSp>
      <p:cxnSp>
        <p:nvCxnSpPr>
          <p:cNvPr id="30" name=""/>
          <p:cNvCxnSpPr>
            <a:stCxn xmlns:a="http://schemas.openxmlformats.org/drawingml/2006/main" id="9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8610600" y="3095625"/>
            <a:ext cx="5905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86A8FF"/>
            </a:solidFill>
            <a:prstDash val="solid"/>
            <a:tailEnd type="arrow" w="sm" len="sm"/>
          </a:ln>
        </p:spPr>
      </p:cxnSp>
      <p:cxnSp>
        <p:nvCxnSpPr>
          <p:cNvPr id="31" name=""/>
          <p:cNvCxnSpPr>
            <a:stCxn xmlns:a="http://schemas.openxmlformats.org/drawingml/2006/main" id="10" idx="2"/>
            <a:endCxn xmlns:a="http://schemas.openxmlformats.org/drawingml/2006/main" id="7" idx="2"/>
          </p:cNvCxnSpPr>
          <p:nvPr/>
        </p:nvCxnSpPr>
        <p:spPr>
          <a:xfrm xmlns:a="http://schemas.openxmlformats.org/drawingml/2006/main" flipH="1">
            <a:off x="1952625" y="3619500"/>
            <a:ext cx="8343900" cy="228600"/>
          </a:xfrm>
          <a:prstGeom xmlns:a="http://schemas.openxmlformats.org/drawingml/2006/main" prst="bentConnector4">
            <a:avLst/>
          </a:prstGeom>
          <a:ln xmlns:a="http://schemas.openxmlformats.org/drawingml/2006/main" w="19050">
            <a:solidFill>
              <a:srgbClr val="5B5E5A"/>
            </a:solidFill>
            <a:prstDash val="solid"/>
            <a:tailEnd type="arrow" w="sm" len="sm"/>
          </a:ln>
        </p:spPr>
      </p:cxn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84720FF-3D79-45D8-BBC2-239F4C9F9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429125"/>
            <a:ext cx="10382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F1F0E9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F1F0E9"/>
                </a:solidFill>
                <a:latin typeface="Arial"/>
                <a:ea typeface="Arial"/>
                <a:cs typeface="Arial"/>
              </a:rPr>
              <a:t>Слоп-угадайка, рулетка и дуэль пополняют игровой баланс. P2P, ставки зрителей и кредит создают риск. Чат и хоррор-отзывы превращают результат в социальный контент.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B08C815-B496-49B1-895B-2F2DD511C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619750"/>
            <a:ext cx="2000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FF5148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5148"/>
                </a:solidFill>
                <a:latin typeface="Arial"/>
                <a:ea typeface="Arial"/>
                <a:cs typeface="Arial"/>
              </a:rPr>
              <a:t>Граница продукта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A5675CC-0563-4FF4-97BB-F0878A5B9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5581650"/>
            <a:ext cx="809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A4A6A1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A4A6A1"/>
                </a:solidFill>
                <a:latin typeface="Arial"/>
                <a:ea typeface="Arial"/>
                <a:cs typeface="Arial"/>
              </a:rPr>
              <a:t>Только внутренняя валюта. Нет платежей, вывода средств, KYC и обещаний доходности.</a:t>
            </a:r>
          </a:p>
        </p:txBody>
      </p:sp>
    </p:spTree>
    <p:extLst>
      <p:ext uri="{BB962C8B-B14F-4D97-AF65-F5344CB8AC3E}">
        <p14:creationId xmlns:p14="http://schemas.microsoft.com/office/powerpoint/2010/main" val="180242208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1F0E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DAE2E8A-660D-4499-8EDE-D02EEB456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33375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FF5148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FF514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4BE68C4-5819-4F24-9A43-DCAD587D2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66700"/>
            <a:ext cx="10096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 i="0">
                <a:solidFill>
                  <a:srgbClr val="0B0C0D"/>
                </a:solidFill>
                <a:latin typeface="Arial"/>
                <a:ea typeface="Arial"/>
                <a:cs typeface="Arial"/>
              </a:defRPr>
            </a:pPr>
            <a:r>
              <a:rPr sz="2400" b="1" i="0">
                <a:solidFill>
                  <a:srgbClr val="0B0C0D"/>
                </a:solidFill>
                <a:latin typeface="Arial"/>
                <a:ea typeface="Arial"/>
                <a:cs typeface="Arial"/>
              </a:rPr>
              <a:t>Вход в продукт, авторизация и роли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7E769C4-C831-456A-9146-FD2BE43E9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66775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8C1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D270BE-45A6-4C6B-953D-2D56B493E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2476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1" i="0">
                <a:solidFill>
                  <a:srgbClr val="787A76"/>
                </a:solidFill>
                <a:latin typeface="Arial"/>
                <a:ea typeface="Arial"/>
                <a:cs typeface="Arial"/>
              </a:defRPr>
            </a:pPr>
            <a:r>
              <a:rPr sz="750" b="1" i="0">
                <a:solidFill>
                  <a:srgbClr val="787A76"/>
                </a:solidFill>
                <a:latin typeface="Arial"/>
                <a:ea typeface="Arial"/>
                <a:cs typeface="Arial"/>
              </a:rPr>
              <a:t>ДЯХАНEXCHANGE, G1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283B9F-2A8F-4F41-B816-349FC622C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7239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1" i="0">
                <a:solidFill>
                  <a:srgbClr val="787A76"/>
                </a:solidFill>
                <a:latin typeface="Arial"/>
                <a:ea typeface="Arial"/>
                <a:cs typeface="Arial"/>
              </a:defRPr>
            </a:pPr>
            <a:r>
              <a:rPr sz="750" b="1" i="0">
                <a:solidFill>
                  <a:srgbClr val="787A76"/>
                </a:solidFill>
                <a:latin typeface="Arial"/>
                <a:ea typeface="Arial"/>
                <a:cs typeface="Arial"/>
              </a:rPr>
              <a:t>17.09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F94AB33-73E6-4496-892F-4CD2ECF95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00150"/>
            <a:ext cx="2333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FF5148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FF5148"/>
                </a:solidFill>
                <a:latin typeface="Arial"/>
                <a:ea typeface="Arial"/>
                <a:cs typeface="Arial"/>
              </a:rPr>
              <a:t>КАК НАХОДЯТ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35F656-DF50-40FF-94F4-EDEAF798F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38300"/>
            <a:ext cx="20002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B0C0D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B0C0D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B0C0D"/>
                </a:solidFill>
                <a:latin typeface="Arial"/>
                <a:ea typeface="Arial"/>
                <a:cs typeface="Arial"/>
              </a:rPr>
              <a:t>Ссылка курса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9CD3FD4-4490-4A40-9803-E9A874461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95550"/>
            <a:ext cx="20002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B0C0D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B0C0D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B0C0D"/>
                </a:solidFill>
                <a:latin typeface="Arial"/>
                <a:ea typeface="Arial"/>
                <a:cs typeface="Arial"/>
              </a:rPr>
              <a:t>QR на защите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E08D6CB-6248-4C14-AB8F-7B74DBD5C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52800"/>
            <a:ext cx="20002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B0C0D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B0C0D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B0C0D"/>
                </a:solidFill>
                <a:latin typeface="Arial"/>
                <a:ea typeface="Arial"/>
                <a:cs typeface="Arial"/>
              </a:rPr>
              <a:t>GitHub README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E7E0E10-CC4B-4BD0-92AC-CF01503CF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10050"/>
            <a:ext cx="20002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B0C0D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B0C0D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B0C0D"/>
                </a:solidFill>
                <a:latin typeface="Arial"/>
                <a:ea typeface="Arial"/>
                <a:cs typeface="Arial"/>
              </a:rPr>
              <a:t>Приглашение друга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E774359-F2D2-431A-B11C-4D2CE46B9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381250"/>
            <a:ext cx="219075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1F0E9"/>
          </a:solidFill>
          <a:ln xmlns:a="http://schemas.openxmlformats.org/drawingml/2006/main" w="9525">
            <a:solidFill>
              <a:srgbClr val="FF5148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514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5148"/>
                </a:solidFill>
                <a:latin typeface="Arial"/>
                <a:ea typeface="Arial"/>
                <a:cs typeface="Arial"/>
              </a:rPr>
              <a:t>ПУБЛИЧНЫЙ</a:t>
            </a:r>
          </a:p>
          <a:p xmlns:a="http://schemas.openxmlformats.org/drawingml/2006/main">
            <a:pPr algn="ctr">
              <a:defRPr sz="1575" b="1">
                <a:solidFill>
                  <a:srgbClr val="FF514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5148"/>
                </a:solidFill>
                <a:latin typeface="Arial"/>
                <a:ea typeface="Arial"/>
                <a:cs typeface="Arial"/>
              </a:rPr>
              <a:t>ТЕРМИНАЛ</a:t>
            </a:r>
          </a:p>
        </p:txBody>
      </p:sp>
      <p:cxnSp>
        <p:nvCxnSpPr>
          <p:cNvPr id="39" name=""/>
          <p:cNvCxnSpPr>
            <a:stCxn xmlns:a="http://schemas.openxmlformats.org/drawingml/2006/main" id="7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2667000" y="1952625"/>
            <a:ext cx="1143000" cy="990600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9B9D98"/>
            </a:solidFill>
            <a:prstDash val="solid"/>
            <a:tailEnd type="arrow" w="sm" len="sm"/>
          </a:ln>
        </p:spPr>
      </p:cxnSp>
      <p:cxnSp>
        <p:nvCxnSpPr>
          <p:cNvPr id="40" name=""/>
          <p:cNvCxnSpPr>
            <a:stCxn xmlns:a="http://schemas.openxmlformats.org/drawingml/2006/main" id="8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2667000" y="2809875"/>
            <a:ext cx="1143000" cy="133350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9B9D98"/>
            </a:solidFill>
            <a:prstDash val="solid"/>
            <a:tailEnd type="arrow" w="sm" len="sm"/>
          </a:ln>
        </p:spPr>
      </p:cxnSp>
      <p:cxnSp>
        <p:nvCxnSpPr>
          <p:cNvPr id="41" name=""/>
          <p:cNvCxnSpPr>
            <a:stCxn xmlns:a="http://schemas.openxmlformats.org/drawingml/2006/main" id="9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 flipV="1">
            <a:off x="2667000" y="2943225"/>
            <a:ext cx="1143000" cy="723900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9B9D98"/>
            </a:solidFill>
            <a:prstDash val="solid"/>
            <a:tailEnd type="arrow" w="sm" len="sm"/>
          </a:ln>
        </p:spPr>
      </p:cxnSp>
      <p:cxnSp>
        <p:nvCxnSpPr>
          <p:cNvPr id="42" name=""/>
          <p:cNvCxnSpPr>
            <a:stCxn xmlns:a="http://schemas.openxmlformats.org/drawingml/2006/main" id="10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 flipV="1">
            <a:off x="2667000" y="2943225"/>
            <a:ext cx="1143000" cy="1581150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9B9D98"/>
            </a:solidFill>
            <a:prstDash val="solid"/>
            <a:tailEnd type="arrow" w="sm" len="sm"/>
          </a:ln>
        </p:spPr>
      </p:cxn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2AEAE65-7665-473D-9A75-B981604E9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1657350"/>
            <a:ext cx="19050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D9FF37"/>
          </a:solidFill>
          <a:ln xmlns:a="http://schemas.openxmlformats.org/drawingml/2006/main" w="9525">
            <a:solidFill>
              <a:srgbClr val="0B0C0D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B0C0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B0C0D"/>
                </a:solidFill>
                <a:latin typeface="Arial"/>
                <a:ea typeface="Arial"/>
                <a:cs typeface="Arial"/>
              </a:rPr>
              <a:t>DEMO AUTH</a:t>
            </a:r>
          </a:p>
          <a:p xmlns:a="http://schemas.openxmlformats.org/drawingml/2006/main">
            <a:pPr algn="ctr">
              <a:defRPr sz="1350" b="1">
                <a:solidFill>
                  <a:srgbClr val="0B0C0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B0C0D"/>
                </a:solidFill>
                <a:latin typeface="Arial"/>
                <a:ea typeface="Arial"/>
                <a:cs typeface="Arial"/>
              </a:rPr>
              <a:t>играть сразу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58114F3-3D19-414E-AB70-C8A81537B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3333750"/>
            <a:ext cx="19050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B0C0D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B0C0D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B0C0D"/>
                </a:solidFill>
                <a:latin typeface="Arial"/>
                <a:ea typeface="Arial"/>
                <a:cs typeface="Arial"/>
              </a:rPr>
              <a:t>АККАУНТ</a:t>
            </a:r>
          </a:p>
          <a:p xmlns:a="http://schemas.openxmlformats.org/drawingml/2006/main">
            <a:pPr algn="ctr">
              <a:defRPr sz="1275" b="1">
                <a:solidFill>
                  <a:srgbClr val="0B0C0D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B0C0D"/>
                </a:solidFill>
                <a:latin typeface="Arial"/>
                <a:ea typeface="Arial"/>
                <a:cs typeface="Arial"/>
              </a:rPr>
              <a:t>сохранить прогресс</a:t>
            </a:r>
          </a:p>
        </p:txBody>
      </p:sp>
      <p:cxnSp>
        <p:nvCxnSpPr>
          <p:cNvPr id="45" name=""/>
          <p:cNvCxnSpPr>
            <a:stCxn xmlns:a="http://schemas.openxmlformats.org/drawingml/2006/main" id="11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 flipV="1">
            <a:off x="6000750" y="2066925"/>
            <a:ext cx="1162050" cy="876300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FF5148"/>
            </a:solidFill>
            <a:prstDash val="solid"/>
            <a:tailEnd type="arrow" w="sm" len="sm"/>
          </a:ln>
        </p:spPr>
      </p:cxnSp>
      <p:cxnSp>
        <p:nvCxnSpPr>
          <p:cNvPr id="46" name=""/>
          <p:cNvCxnSpPr>
            <a:stCxn xmlns:a="http://schemas.openxmlformats.org/drawingml/2006/main" id="11" idx="3"/>
            <a:endCxn xmlns:a="http://schemas.openxmlformats.org/drawingml/2006/main" id="17" idx="1"/>
          </p:cNvCxnSpPr>
          <p:nvPr/>
        </p:nvCxnSpPr>
        <p:spPr>
          <a:xfrm xmlns:a="http://schemas.openxmlformats.org/drawingml/2006/main">
            <a:off x="6000750" y="2943225"/>
            <a:ext cx="1162050" cy="800100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FF5148"/>
            </a:solidFill>
            <a:prstDash val="solid"/>
            <a:tailEnd type="arrow" w="sm" len="sm"/>
          </a:ln>
        </p:spPr>
      </p:cxn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ABF9622-7FB8-4A7D-BAFB-868F2CC95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14668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FF5148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FF5148"/>
                </a:solidFill>
                <a:latin typeface="Arial"/>
                <a:ea typeface="Arial"/>
                <a:cs typeface="Arial"/>
              </a:rPr>
              <a:t>ГОСТЬ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498CD41-C3A1-43FE-BD7F-C0D23C33C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1762125"/>
            <a:ext cx="1809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0B0C0D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0B0C0D"/>
                </a:solidFill>
                <a:latin typeface="Arial"/>
                <a:ea typeface="Arial"/>
                <a:cs typeface="Arial"/>
              </a:rPr>
              <a:t>смотрит курс, заявки и доску позора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5D708C3-3BBA-4A7F-8DAE-F3F55FB52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2619375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FF5148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FF5148"/>
                </a:solidFill>
                <a:latin typeface="Arial"/>
                <a:ea typeface="Arial"/>
                <a:cs typeface="Arial"/>
              </a:rPr>
              <a:t>ИГРОК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2DD3C45-BFE5-4D5F-A882-CA02F1911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2914650"/>
            <a:ext cx="1809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0B0C0D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0B0C0D"/>
                </a:solidFill>
                <a:latin typeface="Arial"/>
                <a:ea typeface="Arial"/>
                <a:cs typeface="Arial"/>
              </a:rPr>
              <a:t>играет, торгует и берёт игровой кредит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A33C826-2BFE-45C4-850D-4FF515CB6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77190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FF5148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FF5148"/>
                </a:solidFill>
                <a:latin typeface="Arial"/>
                <a:ea typeface="Arial"/>
                <a:cs typeface="Arial"/>
              </a:rPr>
              <a:t>ЗРИТЕЛЬ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21F807B-88D1-4F8E-8580-4F01F3BA2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4067175"/>
            <a:ext cx="1809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0B0C0D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0B0C0D"/>
                </a:solidFill>
                <a:latin typeface="Arial"/>
                <a:ea typeface="Arial"/>
                <a:cs typeface="Arial"/>
              </a:rPr>
              <a:t>смотрит дуэли, ставит коины и голосует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ED45E07-FBEB-4115-BA35-D20B0459C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4924425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FF5148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FF5148"/>
                </a:solidFill>
                <a:latin typeface="Arial"/>
                <a:ea typeface="Arial"/>
                <a:cs typeface="Arial"/>
              </a:rPr>
              <a:t>МОДЕРАТОР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555EDFE-1B72-40E2-A2A5-9E9BC5393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5219700"/>
            <a:ext cx="1809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0B0C0D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0B0C0D"/>
                </a:solidFill>
                <a:latin typeface="Arial"/>
                <a:ea typeface="Arial"/>
                <a:cs typeface="Arial"/>
              </a:rPr>
              <a:t>разбирает жалобы на контент и чат</a:t>
            </a:r>
          </a:p>
        </p:txBody>
      </p:sp>
    </p:spTree>
    <p:extLst>
      <p:ext uri="{BB962C8B-B14F-4D97-AF65-F5344CB8AC3E}">
        <p14:creationId xmlns:p14="http://schemas.microsoft.com/office/powerpoint/2010/main" val="10973263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B0C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8583998-2D8A-4CE2-909F-C493C2D60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33375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D9FF3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D9FF37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B6AA115-0C10-4DB8-AB37-70F0FAB2F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66700"/>
            <a:ext cx="10096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 i="0">
                <a:solidFill>
                  <a:srgbClr val="F1F0E9"/>
                </a:solidFill>
                <a:latin typeface="Arial"/>
                <a:ea typeface="Arial"/>
                <a:cs typeface="Arial"/>
              </a:defRPr>
            </a:pPr>
            <a:r>
              <a:rPr sz="2400" b="1" i="0">
                <a:solidFill>
                  <a:srgbClr val="F1F0E9"/>
                </a:solidFill>
                <a:latin typeface="Arial"/>
                <a:ea typeface="Arial"/>
                <a:cs typeface="Arial"/>
              </a:rPr>
              <a:t>Сквозной пользовательский путь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1AFA58D-98F9-4D12-8237-DC31F4817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66775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3634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3F4592B-B818-42D2-B8F4-FDFB25289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2476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1" i="0">
                <a:solidFill>
                  <a:srgbClr val="5B5E5A"/>
                </a:solidFill>
                <a:latin typeface="Arial"/>
                <a:ea typeface="Arial"/>
                <a:cs typeface="Arial"/>
              </a:defRPr>
            </a:pPr>
            <a:r>
              <a:rPr sz="750" b="1" i="0">
                <a:solidFill>
                  <a:srgbClr val="5B5E5A"/>
                </a:solidFill>
                <a:latin typeface="Arial"/>
                <a:ea typeface="Arial"/>
                <a:cs typeface="Arial"/>
              </a:rPr>
              <a:t>ДЯХАНEXCHANGE, G1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E60849D-67D4-4397-9512-66652040F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7239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1" i="0">
                <a:solidFill>
                  <a:srgbClr val="5B5E5A"/>
                </a:solidFill>
                <a:latin typeface="Arial"/>
                <a:ea typeface="Arial"/>
                <a:cs typeface="Arial"/>
              </a:defRPr>
            </a:pPr>
            <a:r>
              <a:rPr sz="750" b="1" i="0">
                <a:solidFill>
                  <a:srgbClr val="5B5E5A"/>
                </a:solidFill>
                <a:latin typeface="Arial"/>
                <a:ea typeface="Arial"/>
                <a:cs typeface="Arial"/>
              </a:rPr>
              <a:t>17.09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4A985B9-2BB3-4D4E-BB82-CF32B6A00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657350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D9FF37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D9FF37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5EC6E40-B409-4EB7-8962-7F3774F5E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114550"/>
            <a:ext cx="15811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121415"/>
          </a:solidFill>
          <a:ln xmlns:a="http://schemas.openxmlformats.org/drawingml/2006/main" w="9525">
            <a:solidFill>
              <a:srgbClr val="333634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3AE3BA1-7022-4E70-AD9A-127A8652F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05050"/>
            <a:ext cx="1295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1F0E9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F1F0E9"/>
                </a:solidFill>
                <a:latin typeface="Arial"/>
                <a:ea typeface="Arial"/>
                <a:cs typeface="Arial"/>
              </a:rPr>
              <a:t>ВХОД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5E4D789-5FE5-48B0-BF14-A5AFF3A0F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2667000"/>
            <a:ext cx="13144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0" i="0">
                <a:solidFill>
                  <a:srgbClr val="A4A6A1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A4A6A1"/>
                </a:solidFill>
                <a:latin typeface="Arial"/>
                <a:ea typeface="Arial"/>
                <a:cs typeface="Arial"/>
              </a:rPr>
              <a:t>ссылка или QR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0468009-1361-4791-BDBF-6CC4E8317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1657350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D9FF37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D9FF37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9EF5F18-6FDD-4F25-83F3-CCA0BB6A8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2114550"/>
            <a:ext cx="15811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121415"/>
          </a:solidFill>
          <a:ln xmlns:a="http://schemas.openxmlformats.org/drawingml/2006/main" w="9525">
            <a:solidFill>
              <a:srgbClr val="333634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8AE602E-03CE-4F25-97D5-1D943C0D3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2305050"/>
            <a:ext cx="1295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1F0E9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F1F0E9"/>
                </a:solidFill>
                <a:latin typeface="Arial"/>
                <a:ea typeface="Arial"/>
                <a:cs typeface="Arial"/>
              </a:rPr>
              <a:t>ДЕМО / ВХОД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F1929F3-A127-44ED-A56B-51096F28A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2667000"/>
            <a:ext cx="13144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0" i="0">
                <a:solidFill>
                  <a:srgbClr val="A4A6A1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A4A6A1"/>
                </a:solidFill>
                <a:latin typeface="Arial"/>
                <a:ea typeface="Arial"/>
                <a:cs typeface="Arial"/>
              </a:rPr>
              <a:t>получить профиль</a:t>
            </a:r>
          </a:p>
        </p:txBody>
      </p:sp>
      <p:cxnSp>
        <p:nvCxnSpPr>
          <p:cNvPr id="59" name=""/>
          <p:cNvCxnSpPr>
            <a:stCxn xmlns:a="http://schemas.openxmlformats.org/drawingml/2006/main" id="7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2105025" y="2647950"/>
            <a:ext cx="3429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B5E5A"/>
            </a:solidFill>
            <a:prstDash val="solid"/>
            <a:tailEnd type="arrow" w="sm" len="sm"/>
          </a:ln>
        </p:spPr>
      </p:cxn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C291D7A-612A-47A0-BCBF-5D858A94F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1657350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D9FF37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D9FF37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71F44EF-2F7F-4CDC-A27E-B1807AF47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2114550"/>
            <a:ext cx="15811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121415"/>
          </a:solidFill>
          <a:ln xmlns:a="http://schemas.openxmlformats.org/drawingml/2006/main" w="9525">
            <a:solidFill>
              <a:srgbClr val="333634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4CD5ED6-559C-4A7F-A24A-CFA4E6FE6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305050"/>
            <a:ext cx="1295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1F0E9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F1F0E9"/>
                </a:solidFill>
                <a:latin typeface="Arial"/>
                <a:ea typeface="Arial"/>
                <a:cs typeface="Arial"/>
              </a:rPr>
              <a:t>ТЕРМИНАЛ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C418364-F379-432E-A5CB-9A6B5C981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2667000"/>
            <a:ext cx="13144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0" i="0">
                <a:solidFill>
                  <a:srgbClr val="A4A6A1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A4A6A1"/>
                </a:solidFill>
                <a:latin typeface="Arial"/>
                <a:ea typeface="Arial"/>
                <a:cs typeface="Arial"/>
              </a:rPr>
              <a:t>курс и баланс</a:t>
            </a:r>
          </a:p>
        </p:txBody>
      </p:sp>
      <p:cxnSp>
        <p:nvCxnSpPr>
          <p:cNvPr id="64" name=""/>
          <p:cNvCxnSpPr>
            <a:stCxn xmlns:a="http://schemas.openxmlformats.org/drawingml/2006/main" id="11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4029075" y="2647950"/>
            <a:ext cx="3429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B5E5A"/>
            </a:solidFill>
            <a:prstDash val="solid"/>
            <a:tailEnd type="arrow" w="sm" len="sm"/>
          </a:ln>
        </p:spPr>
      </p:cxn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871926B-E0C3-4DE5-B392-BDD4E141B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1657350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D9FF37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D9FF37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0E466FC-6D4B-4FF4-8463-A6D096F4F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2114550"/>
            <a:ext cx="15811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121415"/>
          </a:solidFill>
          <a:ln xmlns:a="http://schemas.openxmlformats.org/drawingml/2006/main" w="9525">
            <a:solidFill>
              <a:srgbClr val="333634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F80BF51-CDD0-4336-95D2-CD25BF9D0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305050"/>
            <a:ext cx="1295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1F0E9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F1F0E9"/>
                </a:solidFill>
                <a:latin typeface="Arial"/>
                <a:ea typeface="Arial"/>
                <a:cs typeface="Arial"/>
              </a:rPr>
              <a:t>ДЕЙСТВИЕ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55D6206-A6F3-47A2-B88C-2C91E4986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667000"/>
            <a:ext cx="13144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0" i="0">
                <a:solidFill>
                  <a:srgbClr val="A4A6A1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A4A6A1"/>
                </a:solidFill>
                <a:latin typeface="Arial"/>
                <a:ea typeface="Arial"/>
                <a:cs typeface="Arial"/>
              </a:rPr>
              <a:t>игра, P2P, чат</a:t>
            </a:r>
          </a:p>
        </p:txBody>
      </p:sp>
      <p:cxnSp>
        <p:nvCxnSpPr>
          <p:cNvPr id="69" name=""/>
          <p:cNvCxnSpPr>
            <a:stCxn xmlns:a="http://schemas.openxmlformats.org/drawingml/2006/main" id="16" idx="3"/>
            <a:endCxn xmlns:a="http://schemas.openxmlformats.org/drawingml/2006/main" id="21" idx="1"/>
          </p:cNvCxnSpPr>
          <p:nvPr/>
        </p:nvCxnSpPr>
        <p:spPr>
          <a:xfrm xmlns:a="http://schemas.openxmlformats.org/drawingml/2006/main">
            <a:off x="5953125" y="2647950"/>
            <a:ext cx="3429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B5E5A"/>
            </a:solidFill>
            <a:prstDash val="solid"/>
            <a:tailEnd type="arrow" w="sm" len="sm"/>
          </a:ln>
        </p:spPr>
      </p:cxn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DD14081-B252-467B-996E-20D59F100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0075" y="1657350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FF5148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FF5148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9923E11-E467-425B-9248-77E0FA05D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0075" y="2114550"/>
            <a:ext cx="15811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121415"/>
          </a:solidFill>
          <a:ln xmlns:a="http://schemas.openxmlformats.org/drawingml/2006/main" w="9525">
            <a:solidFill>
              <a:srgbClr val="FF5148"/>
            </a:solidFill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3FF33BE-6A92-4C5E-B633-4EAECCC28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305050"/>
            <a:ext cx="1295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1F0E9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F1F0E9"/>
                </a:solidFill>
                <a:latin typeface="Arial"/>
                <a:ea typeface="Arial"/>
                <a:cs typeface="Arial"/>
              </a:rPr>
              <a:t>SETTLEMENT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CE353B7-1926-4FDE-8445-6F5A62D6D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3425" y="2667000"/>
            <a:ext cx="13144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0" i="0">
                <a:solidFill>
                  <a:srgbClr val="A4A6A1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A4A6A1"/>
                </a:solidFill>
                <a:latin typeface="Arial"/>
                <a:ea typeface="Arial"/>
                <a:cs typeface="Arial"/>
              </a:rPr>
              <a:t>сервер меняет ledger</a:t>
            </a:r>
          </a:p>
        </p:txBody>
      </p:sp>
      <p:cxnSp>
        <p:nvCxnSpPr>
          <p:cNvPr id="74" name=""/>
          <p:cNvCxnSpPr>
            <a:stCxn xmlns:a="http://schemas.openxmlformats.org/drawingml/2006/main" id="21" idx="3"/>
            <a:endCxn xmlns:a="http://schemas.openxmlformats.org/drawingml/2006/main" id="26" idx="1"/>
          </p:cNvCxnSpPr>
          <p:nvPr/>
        </p:nvCxnSpPr>
        <p:spPr>
          <a:xfrm xmlns:a="http://schemas.openxmlformats.org/drawingml/2006/main">
            <a:off x="7877175" y="2647950"/>
            <a:ext cx="3429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F5148"/>
            </a:solidFill>
            <a:prstDash val="solid"/>
            <a:tailEnd type="arrow" w="sm" len="sm"/>
          </a:ln>
        </p:spPr>
      </p:cxn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678C5CC-13A2-4391-B62D-0E095BDA0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1657350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D9FF37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D9FF37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2BBDCBC-6423-46A2-9EBA-6B9C37AE0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2114550"/>
            <a:ext cx="15811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121415"/>
          </a:solidFill>
          <a:ln xmlns:a="http://schemas.openxmlformats.org/drawingml/2006/main" w="9525">
            <a:solidFill>
              <a:srgbClr val="333634"/>
            </a:solidFill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25791EF-AEF4-467B-BBEC-A444B0179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305050"/>
            <a:ext cx="1295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1F0E9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F1F0E9"/>
                </a:solidFill>
                <a:latin typeface="Arial"/>
                <a:ea typeface="Arial"/>
                <a:cs typeface="Arial"/>
              </a:rPr>
              <a:t>ВОЗВРАТ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52C1D59-6395-4F24-9193-42BDDE35C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7475" y="2667000"/>
            <a:ext cx="13144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0" i="0">
                <a:solidFill>
                  <a:srgbClr val="A4A6A1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A4A6A1"/>
                </a:solidFill>
                <a:latin typeface="Arial"/>
                <a:ea typeface="Arial"/>
                <a:cs typeface="Arial"/>
              </a:rPr>
              <a:t>новый раунд</a:t>
            </a:r>
          </a:p>
        </p:txBody>
      </p:sp>
      <p:cxnSp>
        <p:nvCxnSpPr>
          <p:cNvPr id="79" name=""/>
          <p:cNvCxnSpPr>
            <a:stCxn xmlns:a="http://schemas.openxmlformats.org/drawingml/2006/main" id="26" idx="3"/>
            <a:endCxn xmlns:a="http://schemas.openxmlformats.org/drawingml/2006/main" id="31" idx="1"/>
          </p:cNvCxnSpPr>
          <p:nvPr/>
        </p:nvCxnSpPr>
        <p:spPr>
          <a:xfrm xmlns:a="http://schemas.openxmlformats.org/drawingml/2006/main">
            <a:off x="9801225" y="2647950"/>
            <a:ext cx="3429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B5E5A"/>
            </a:solidFill>
            <a:prstDash val="solid"/>
            <a:tailEnd type="arrow" w="sm" len="sm"/>
          </a:ln>
        </p:spPr>
      </p:cxn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F84B0B7-3EDB-4316-ACAD-F3EB1F40B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243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D9FF37"/>
                </a:solidFill>
                <a:latin typeface="Arial"/>
                <a:ea typeface="Arial"/>
                <a:cs typeface="Arial"/>
              </a:defRPr>
            </a:pPr>
            <a:r>
              <a:rPr sz="1425" b="1" i="0">
                <a:solidFill>
                  <a:srgbClr val="D9FF37"/>
                </a:solidFill>
                <a:latin typeface="Arial"/>
                <a:ea typeface="Arial"/>
                <a:cs typeface="Arial"/>
              </a:rPr>
              <a:t>Развилки после терминала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B695F19-F021-4AAB-A1C4-E6E46E9C2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76750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F1F0E9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F1F0E9"/>
                </a:solidFill>
                <a:latin typeface="Arial"/>
                <a:ea typeface="Arial"/>
                <a:cs typeface="Arial"/>
              </a:rPr>
              <a:t>Слоп-угадайка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D61E7A7-DB6C-4AE9-8C98-14B45BFCC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91075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A4A6A1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A4A6A1"/>
                </a:solidFill>
                <a:latin typeface="Arial"/>
                <a:ea typeface="Arial"/>
                <a:cs typeface="Arial"/>
              </a:rPr>
              <a:t>сервер проверяет ответ и начисляет +1 КУМ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DD56764-8B95-470E-A196-1112F9035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4476750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F1F0E9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F1F0E9"/>
                </a:solidFill>
                <a:latin typeface="Arial"/>
                <a:ea typeface="Arial"/>
                <a:cs typeface="Arial"/>
              </a:rPr>
              <a:t>Мем-рулетка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AC98BBC-DAC7-4CEC-8835-9A3DFE21F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4791075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A4A6A1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A4A6A1"/>
                </a:solidFill>
                <a:latin typeface="Arial"/>
                <a:ea typeface="Arial"/>
                <a:cs typeface="Arial"/>
              </a:rPr>
              <a:t>сервер фиксирует случайный исход до анимации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D7B14EE-947A-4F3E-BA94-081E1D33D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476750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F1F0E9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F1F0E9"/>
                </a:solidFill>
                <a:latin typeface="Arial"/>
                <a:ea typeface="Arial"/>
                <a:cs typeface="Arial"/>
              </a:rPr>
              <a:t>Слоп-дуэль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6138000-8CDF-4AE9-85D0-6D9EF71B3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791075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A4A6A1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A4A6A1"/>
                </a:solidFill>
                <a:latin typeface="Arial"/>
                <a:ea typeface="Arial"/>
                <a:cs typeface="Arial"/>
              </a:rPr>
              <a:t>WebSocket синхронизирует игроков и зрителей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D846F40-A80B-41BD-8AA1-0F28369FF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4476750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F1F0E9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F1F0E9"/>
                </a:solidFill>
                <a:latin typeface="Arial"/>
                <a:ea typeface="Arial"/>
                <a:cs typeface="Arial"/>
              </a:rPr>
              <a:t>P2P и кредит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EC8D16C-F1EB-4851-9D09-C977A08D2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4791075"/>
            <a:ext cx="1809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A4A6A1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A4A6A1"/>
                </a:solidFill>
                <a:latin typeface="Arial"/>
                <a:ea typeface="Arial"/>
                <a:cs typeface="Arial"/>
              </a:rPr>
              <a:t>резерв, сделка, долг и срок живут на сервере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6520A91-F1FD-4745-ACA6-EAF0053F6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6959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3634"/>
          </a:solidFill>
          <a:ln xmlns:a="http://schemas.openxmlformats.org/drawingml/2006/main" w="0">
            <a:noFill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8DDE47DE-9319-4BEF-9859-5725020F0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95975"/>
            <a:ext cx="1085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A4A6A1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A4A6A1"/>
                </a:solidFill>
                <a:latin typeface="Arial"/>
                <a:ea typeface="Arial"/>
                <a:cs typeface="Arial"/>
              </a:rPr>
              <a:t>При потере сети раунд восстанавливается по ID. Повторный запрос не дублирует выплату. Истёкший раунд показывает понятный статус.</a:t>
            </a:r>
          </a:p>
        </p:txBody>
      </p:sp>
    </p:spTree>
    <p:extLst>
      <p:ext uri="{BB962C8B-B14F-4D97-AF65-F5344CB8AC3E}">
        <p14:creationId xmlns:p14="http://schemas.microsoft.com/office/powerpoint/2010/main" val="17546414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B0C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48F7A74-5910-41B8-AB9D-477BE29AE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33375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D9FF3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D9FF37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E6A916-9D86-4AA8-8E9C-43054ECC3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66700"/>
            <a:ext cx="10096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 i="0">
                <a:solidFill>
                  <a:srgbClr val="F1F0E9"/>
                </a:solidFill>
                <a:latin typeface="Arial"/>
                <a:ea typeface="Arial"/>
                <a:cs typeface="Arial"/>
              </a:defRPr>
            </a:pPr>
            <a:r>
              <a:rPr sz="2400" b="1" i="0">
                <a:solidFill>
                  <a:srgbClr val="F1F0E9"/>
                </a:solidFill>
                <a:latin typeface="Arial"/>
                <a:ea typeface="Arial"/>
                <a:cs typeface="Arial"/>
              </a:rPr>
              <a:t>Игровые механики и проверяемые правила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7FE834A-5F64-4ABE-8874-47AFB7076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66775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3634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EAD55C-D9B2-4470-9CA7-2E6F7F780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2476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1" i="0">
                <a:solidFill>
                  <a:srgbClr val="5B5E5A"/>
                </a:solidFill>
                <a:latin typeface="Arial"/>
                <a:ea typeface="Arial"/>
                <a:cs typeface="Arial"/>
              </a:defRPr>
            </a:pPr>
            <a:r>
              <a:rPr sz="750" b="1" i="0">
                <a:solidFill>
                  <a:srgbClr val="5B5E5A"/>
                </a:solidFill>
                <a:latin typeface="Arial"/>
                <a:ea typeface="Arial"/>
                <a:cs typeface="Arial"/>
              </a:rPr>
              <a:t>ДЯХАНEXCHANGE, G1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D3AF6D-A3E3-4FCA-86B8-1A4D1E05F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7239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1" i="0">
                <a:solidFill>
                  <a:srgbClr val="5B5E5A"/>
                </a:solidFill>
                <a:latin typeface="Arial"/>
                <a:ea typeface="Arial"/>
                <a:cs typeface="Arial"/>
              </a:defRPr>
            </a:pPr>
            <a:r>
              <a:rPr sz="750" b="1" i="0">
                <a:solidFill>
                  <a:srgbClr val="5B5E5A"/>
                </a:solidFill>
                <a:latin typeface="Arial"/>
                <a:ea typeface="Arial"/>
                <a:cs typeface="Arial"/>
              </a:rPr>
              <a:t>17.09</a:t>
            </a:r>
          </a:p>
        </p:txBody>
      </p:sp>
      <p:graphicFrame>
        <p:nvGraphicFramePr>
          <p:cNvPr id="13" name=""/>
          <p:cNvGraphicFramePr/>
          <p:nvPr/>
        </p:nvGraphicFramePr>
        <p:xfrm>
          <a:off xmlns:a="http://schemas.openxmlformats.org/drawingml/2006/main" x="552450" y="1257300"/>
          <a:ext xmlns:a="http://schemas.openxmlformats.org/drawingml/2006/main" cx="11087100" cy="43338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095500"/>
                <a:gridCol w="2809875"/>
                <a:gridCol w="3381375"/>
                <a:gridCol w="2800350"/>
              </a:tblGrid>
              <a:tr h="533400"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0B0C0D"/>
                          </a:solidFill>
                          <a:latin typeface="Arial"/>
                          <a:ea typeface="Arial"/>
                          <a:cs typeface="Arial"/>
                        </a:rPr>
                        <a:t>Механика</a:t>
                      </a:r>
                    </a:p>
                  </a:txBody>
                  <a:tcPr marL="95250" marR="95250" marT="66675" marB="66675" anchor="ctr">
                    <a:solidFill>
                      <a:srgbClr val="D9FF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0B0C0D"/>
                          </a:solidFill>
                          <a:latin typeface="Arial"/>
                          <a:ea typeface="Arial"/>
                          <a:cs typeface="Arial"/>
                        </a:rPr>
                        <a:t>Действие пользователя</a:t>
                      </a:r>
                    </a:p>
                  </a:txBody>
                  <a:tcPr marL="95250" marR="95250" marT="66675" marB="66675" anchor="ctr">
                    <a:solidFill>
                      <a:srgbClr val="D9FF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0B0C0D"/>
                          </a:solidFill>
                          <a:latin typeface="Arial"/>
                          <a:ea typeface="Arial"/>
                          <a:cs typeface="Arial"/>
                        </a:rPr>
                        <a:t>Решение сервера</a:t>
                      </a:r>
                    </a:p>
                  </a:txBody>
                  <a:tcPr marL="95250" marR="95250" marT="66675" marB="66675" anchor="ctr">
                    <a:solidFill>
                      <a:srgbClr val="D9FF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0B0C0D"/>
                          </a:solidFill>
                          <a:latin typeface="Arial"/>
                          <a:ea typeface="Arial"/>
                          <a:cs typeface="Arial"/>
                        </a:rPr>
                        <a:t>Изменение состояния</a:t>
                      </a:r>
                    </a:p>
                  </a:txBody>
                  <a:tcPr marL="95250" marR="95250" marT="66675" marB="66675" anchor="ctr">
                    <a:solidFill>
                      <a:srgbClr val="D9FF37"/>
                    </a:solidFill>
                  </a:tcPr>
                </a:tc>
              </a:tr>
              <a:tr h="752475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D9FF37"/>
                          </a:solidFill>
                          <a:latin typeface="Arial"/>
                          <a:ea typeface="Arial"/>
                          <a:cs typeface="Arial"/>
                        </a:rPr>
                        <a:t>Слоп-угадайка</a:t>
                      </a:r>
                    </a:p>
                  </a:txBody>
                  <a:tcPr marL="95250" marR="95250" marT="66675" marB="66675" anchor="ctr">
                    <a:solidFill>
                      <a:srgbClr val="12141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1F0E9"/>
                          </a:solidFill>
                          <a:latin typeface="Arial"/>
                          <a:ea typeface="Arial"/>
                          <a:cs typeface="Arial"/>
                        </a:rPr>
                        <a:t>Вводит название изображения</a:t>
                      </a:r>
                    </a:p>
                  </a:txBody>
                  <a:tcPr marL="95250" marR="95250" marT="66675" marB="66675" anchor="ctr">
                    <a:solidFill>
                      <a:srgbClr val="12141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1F0E9"/>
                          </a:solidFill>
                          <a:latin typeface="Arial"/>
                          <a:ea typeface="Arial"/>
                          <a:cs typeface="Arial"/>
                        </a:rPr>
                        <a:t>Fuzzy match + синонимы</a:t>
                      </a:r>
                    </a:p>
                  </a:txBody>
                  <a:tcPr marL="95250" marR="95250" marT="66675" marB="66675" anchor="ctr">
                    <a:solidFill>
                      <a:srgbClr val="12141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1F0E9"/>
                          </a:solidFill>
                          <a:latin typeface="Arial"/>
                          <a:ea typeface="Arial"/>
                          <a:cs typeface="Arial"/>
                        </a:rPr>
                        <a:t>+1 КУМ или новый раунд</a:t>
                      </a:r>
                    </a:p>
                  </a:txBody>
                  <a:tcPr marL="95250" marR="95250" marT="66675" marB="66675" anchor="ctr">
                    <a:solidFill>
                      <a:srgbClr val="121415"/>
                    </a:solidFill>
                  </a:tcPr>
                </a:tc>
              </a:tr>
              <a:tr h="752475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D9FF37"/>
                          </a:solidFill>
                          <a:latin typeface="Arial"/>
                          <a:ea typeface="Arial"/>
                          <a:cs typeface="Arial"/>
                        </a:rPr>
                        <a:t>Мем-рулетка</a:t>
                      </a:r>
                    </a:p>
                  </a:txBody>
                  <a:tcPr marL="95250" marR="95250" marT="66675" marB="66675" anchor="ctr">
                    <a:solidFill>
                      <a:srgbClr val="12141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1F0E9"/>
                          </a:solidFill>
                          <a:latin typeface="Arial"/>
                          <a:ea typeface="Arial"/>
                          <a:cs typeface="Arial"/>
                        </a:rPr>
                        <a:t>Загружает или выбирает мем</a:t>
                      </a:r>
                    </a:p>
                  </a:txBody>
                  <a:tcPr marL="95250" marR="95250" marT="66675" marB="66675" anchor="ctr">
                    <a:solidFill>
                      <a:srgbClr val="12141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1F0E9"/>
                          </a:solidFill>
                          <a:latin typeface="Arial"/>
                          <a:ea typeface="Arial"/>
                          <a:cs typeface="Arial"/>
                        </a:rPr>
                        <a:t>Число 1–10 фиксируется до анимации</a:t>
                      </a:r>
                    </a:p>
                  </a:txBody>
                  <a:tcPr marL="95250" marR="95250" marT="66675" marB="66675" anchor="ctr">
                    <a:solidFill>
                      <a:srgbClr val="12141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1F0E9"/>
                          </a:solidFill>
                          <a:latin typeface="Arial"/>
                          <a:ea typeface="Arial"/>
                          <a:cs typeface="Arial"/>
                        </a:rPr>
                        <a:t>Начисление или списание</a:t>
                      </a:r>
                    </a:p>
                  </a:txBody>
                  <a:tcPr marL="95250" marR="95250" marT="66675" marB="66675" anchor="ctr">
                    <a:solidFill>
                      <a:srgbClr val="121415"/>
                    </a:solidFill>
                  </a:tcPr>
                </a:tc>
              </a:tr>
              <a:tr h="752475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D9FF37"/>
                          </a:solidFill>
                          <a:latin typeface="Arial"/>
                          <a:ea typeface="Arial"/>
                          <a:cs typeface="Arial"/>
                        </a:rPr>
                        <a:t>Слоп-дуэль</a:t>
                      </a:r>
                    </a:p>
                  </a:txBody>
                  <a:tcPr marL="95250" marR="95250" marT="66675" marB="66675" anchor="ctr">
                    <a:solidFill>
                      <a:srgbClr val="12141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1F0E9"/>
                          </a:solidFill>
                          <a:latin typeface="Arial"/>
                          <a:ea typeface="Arial"/>
                          <a:cs typeface="Arial"/>
                        </a:rPr>
                        <a:t>Отвечает и голосует</a:t>
                      </a:r>
                    </a:p>
                  </a:txBody>
                  <a:tcPr marL="95250" marR="95250" marT="66675" marB="66675" anchor="ctr">
                    <a:solidFill>
                      <a:srgbClr val="12141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1F0E9"/>
                          </a:solidFill>
                          <a:latin typeface="Arial"/>
                          <a:ea typeface="Arial"/>
                          <a:cs typeface="Arial"/>
                        </a:rPr>
                        <a:t>Deadline, голоса, atomic settlement</a:t>
                      </a:r>
                    </a:p>
                  </a:txBody>
                  <a:tcPr marL="95250" marR="95250" marT="66675" marB="66675" anchor="ctr">
                    <a:solidFill>
                      <a:srgbClr val="12141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1F0E9"/>
                          </a:solidFill>
                          <a:latin typeface="Arial"/>
                          <a:ea typeface="Arial"/>
                          <a:cs typeface="Arial"/>
                        </a:rPr>
                        <a:t>Банк победителю</a:t>
                      </a:r>
                    </a:p>
                  </a:txBody>
                  <a:tcPr marL="95250" marR="95250" marT="66675" marB="66675" anchor="ctr">
                    <a:solidFill>
                      <a:srgbClr val="121415"/>
                    </a:solidFill>
                  </a:tcPr>
                </a:tc>
              </a:tr>
              <a:tr h="752475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D9FF37"/>
                          </a:solidFill>
                          <a:latin typeface="Arial"/>
                          <a:ea typeface="Arial"/>
                          <a:cs typeface="Arial"/>
                        </a:rPr>
                        <a:t>P2P</a:t>
                      </a:r>
                    </a:p>
                  </a:txBody>
                  <a:tcPr marL="95250" marR="95250" marT="66675" marB="66675" anchor="ctr">
                    <a:solidFill>
                      <a:srgbClr val="12141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1F0E9"/>
                          </a:solidFill>
                          <a:latin typeface="Arial"/>
                          <a:ea typeface="Arial"/>
                          <a:cs typeface="Arial"/>
                        </a:rPr>
                        <a:t>Создаёт или принимает ордер</a:t>
                      </a:r>
                    </a:p>
                  </a:txBody>
                  <a:tcPr marL="95250" marR="95250" marT="66675" marB="66675" anchor="ctr">
                    <a:solidFill>
                      <a:srgbClr val="12141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1F0E9"/>
                          </a:solidFill>
                          <a:latin typeface="Arial"/>
                          <a:ea typeface="Arial"/>
                          <a:cs typeface="Arial"/>
                        </a:rPr>
                        <a:t>Резервирует баланс</a:t>
                      </a:r>
                    </a:p>
                  </a:txBody>
                  <a:tcPr marL="95250" marR="95250" marT="66675" marB="66675" anchor="ctr">
                    <a:solidFill>
                      <a:srgbClr val="12141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1F0E9"/>
                          </a:solidFill>
                          <a:latin typeface="Arial"/>
                          <a:ea typeface="Arial"/>
                          <a:cs typeface="Arial"/>
                        </a:rPr>
                        <a:t>Settlement или отмена</a:t>
                      </a:r>
                    </a:p>
                  </a:txBody>
                  <a:tcPr marL="95250" marR="95250" marT="66675" marB="66675" anchor="ctr">
                    <a:solidFill>
                      <a:srgbClr val="121415"/>
                    </a:solidFill>
                  </a:tcPr>
                </a:tc>
              </a:tr>
              <a:tr h="752475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D9FF37"/>
                          </a:solidFill>
                          <a:latin typeface="Arial"/>
                          <a:ea typeface="Arial"/>
                          <a:cs typeface="Arial"/>
                        </a:rPr>
                        <a:t>Кредит</a:t>
                      </a:r>
                    </a:p>
                  </a:txBody>
                  <a:tcPr marL="95250" marR="95250" marT="66675" marB="66675" anchor="ctr">
                    <a:solidFill>
                      <a:srgbClr val="12141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1F0E9"/>
                          </a:solidFill>
                          <a:latin typeface="Arial"/>
                          <a:ea typeface="Arial"/>
                          <a:cs typeface="Arial"/>
                        </a:rPr>
                        <a:t>Подтверждает сумму и срок</a:t>
                      </a:r>
                    </a:p>
                  </a:txBody>
                  <a:tcPr marL="95250" marR="95250" marT="66675" marB="66675" anchor="ctr">
                    <a:solidFill>
                      <a:srgbClr val="12141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1F0E9"/>
                          </a:solidFill>
                          <a:latin typeface="Arial"/>
                          <a:ea typeface="Arial"/>
                          <a:cs typeface="Arial"/>
                        </a:rPr>
                        <a:t>Создаёт долг и таймер</a:t>
                      </a:r>
                    </a:p>
                  </a:txBody>
                  <a:tcPr marL="95250" marR="95250" marT="66675" marB="66675" anchor="ctr">
                    <a:solidFill>
                      <a:srgbClr val="12141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1F0E9"/>
                          </a:solidFill>
                          <a:latin typeface="Arial"/>
                          <a:ea typeface="Arial"/>
                          <a:cs typeface="Arial"/>
                        </a:rPr>
                        <a:t>Погашение или статус SCAM</a:t>
                      </a:r>
                    </a:p>
                  </a:txBody>
                  <a:tcPr marL="95250" marR="95250" marT="66675" marB="66675" anchor="ctr">
                    <a:solidFill>
                      <a:srgbClr val="121415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9B18F67-69A2-4359-A2A1-A0A72B881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905500"/>
            <a:ext cx="10668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FF5148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FF5148"/>
                </a:solidFill>
                <a:latin typeface="Arial"/>
                <a:ea typeface="Arial"/>
                <a:cs typeface="Arial"/>
              </a:rPr>
              <a:t>Общее правило: клиент показывает результат, но никогда не рассчитывает баланс как источник истины.</a:t>
            </a:r>
          </a:p>
        </p:txBody>
      </p:sp>
    </p:spTree>
    <p:extLst>
      <p:ext uri="{BB962C8B-B14F-4D97-AF65-F5344CB8AC3E}">
        <p14:creationId xmlns:p14="http://schemas.microsoft.com/office/powerpoint/2010/main" val="191550950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1F0E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38E38FF-DC26-4279-80E4-6D7EE0039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33375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FF5148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FF5148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81A80BB-2DF0-4AF5-9C16-4F6DA7DFD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66700"/>
            <a:ext cx="10096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 i="0">
                <a:solidFill>
                  <a:srgbClr val="0B0C0D"/>
                </a:solidFill>
                <a:latin typeface="Arial"/>
                <a:ea typeface="Arial"/>
                <a:cs typeface="Arial"/>
              </a:defRPr>
            </a:pPr>
            <a:r>
              <a:rPr sz="2400" b="1" i="0">
                <a:solidFill>
                  <a:srgbClr val="0B0C0D"/>
                </a:solidFill>
                <a:latin typeface="Arial"/>
                <a:ea typeface="Arial"/>
                <a:cs typeface="Arial"/>
              </a:rPr>
              <a:t>Слоп-угадайка: данные по шагам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4BE33E-540A-4112-98B6-5E0E49140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66775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8C1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5BAB40-44CA-438F-A996-3485BE8AE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2476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1" i="0">
                <a:solidFill>
                  <a:srgbClr val="787A76"/>
                </a:solidFill>
                <a:latin typeface="Arial"/>
                <a:ea typeface="Arial"/>
                <a:cs typeface="Arial"/>
              </a:defRPr>
            </a:pPr>
            <a:r>
              <a:rPr sz="750" b="1" i="0">
                <a:solidFill>
                  <a:srgbClr val="787A76"/>
                </a:solidFill>
                <a:latin typeface="Arial"/>
                <a:ea typeface="Arial"/>
                <a:cs typeface="Arial"/>
              </a:rPr>
              <a:t>ДЯХАНEXCHANGE, G1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C161A9-FAF9-485A-9854-731D47A00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7239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1" i="0">
                <a:solidFill>
                  <a:srgbClr val="787A76"/>
                </a:solidFill>
                <a:latin typeface="Arial"/>
                <a:ea typeface="Arial"/>
                <a:cs typeface="Arial"/>
              </a:defRPr>
            </a:pPr>
            <a:r>
              <a:rPr sz="750" b="1" i="0">
                <a:solidFill>
                  <a:srgbClr val="787A76"/>
                </a:solidFill>
                <a:latin typeface="Arial"/>
                <a:ea typeface="Arial"/>
                <a:cs typeface="Arial"/>
              </a:rPr>
              <a:t>17.09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26EB8C4-FA5D-4A79-8296-78435DC85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19200"/>
            <a:ext cx="15240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B0C0D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0B0C0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B0C0D"/>
                </a:solidFill>
                <a:latin typeface="Arial"/>
                <a:ea typeface="Arial"/>
                <a:cs typeface="Arial"/>
              </a:rPr>
              <a:t>ИГРОК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4D0278-61E0-48B4-A496-4896D7F25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1219200"/>
            <a:ext cx="15240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B0C0D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0B0C0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B0C0D"/>
                </a:solidFill>
                <a:latin typeface="Arial"/>
                <a:ea typeface="Arial"/>
                <a:cs typeface="Arial"/>
              </a:rPr>
              <a:t>REACT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673748-85DB-4E4F-B188-41F8D937D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1219200"/>
            <a:ext cx="15240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B0C0D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0B0C0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B0C0D"/>
                </a:solidFill>
                <a:latin typeface="Arial"/>
                <a:ea typeface="Arial"/>
                <a:cs typeface="Arial"/>
              </a:rPr>
              <a:t>NESTJS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0FF86E7-23AA-4249-BD8D-FA87FCF72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1219200"/>
            <a:ext cx="15240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B0C0D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0B0C0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B0C0D"/>
                </a:solidFill>
                <a:latin typeface="Arial"/>
                <a:ea typeface="Arial"/>
                <a:cs typeface="Arial"/>
              </a:rPr>
              <a:t>SPRING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F1AE1E-A9E8-46F0-892F-64F5B5740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1219200"/>
            <a:ext cx="15240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B0C0D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0B0C0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B0C0D"/>
                </a:solidFill>
                <a:latin typeface="Arial"/>
                <a:ea typeface="Arial"/>
                <a:cs typeface="Arial"/>
              </a:rPr>
              <a:t>POSTGRES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A13A17E-823E-4D0F-9095-947DE9C10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9225" y="1714500"/>
            <a:ext cx="9525" cy="411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FC0B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B02388C-56DB-47C2-981B-B41EB9029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1714500"/>
            <a:ext cx="9525" cy="411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FC0BA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10648BF-288D-43E6-A2B9-8E5551864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714500"/>
            <a:ext cx="9525" cy="411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FC0BA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BA76DE3-DA75-4403-8719-DAB41E1D0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1714500"/>
            <a:ext cx="9525" cy="411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FC0BA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DB9A0AE-4521-4E54-B972-AD9C8C9CB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53725" y="1714500"/>
            <a:ext cx="9525" cy="411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FC0BA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FE650B4-9A58-46EE-9F62-600853911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000250"/>
            <a:ext cx="2333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FF37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4C1D8E9-0CCF-48DD-BDF5-092D8101B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1847850"/>
            <a:ext cx="152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 i="0">
                <a:solidFill>
                  <a:srgbClr val="D9FF37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D9FF37"/>
                </a:solidFill>
                <a:latin typeface="Arial"/>
                <a:ea typeface="Arial"/>
                <a:cs typeface="Arial"/>
              </a:rPr>
              <a:t>›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08692F4-577E-4E0E-B900-D44015B91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1762125"/>
            <a:ext cx="21812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0B0C0D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0B0C0D"/>
                </a:solidFill>
                <a:latin typeface="Arial"/>
                <a:ea typeface="Arial"/>
                <a:cs typeface="Arial"/>
              </a:rPr>
              <a:t>Начать раунд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07D6428-0E1D-43A2-80FF-9C822C9BA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2457450"/>
            <a:ext cx="2333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FF37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C8E6DEE-ED09-4C6F-95F2-3037D3F36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2305050"/>
            <a:ext cx="152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 i="0">
                <a:solidFill>
                  <a:srgbClr val="D9FF37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D9FF37"/>
                </a:solidFill>
                <a:latin typeface="Arial"/>
                <a:ea typeface="Arial"/>
                <a:cs typeface="Arial"/>
              </a:rPr>
              <a:t>›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F0B0A28-E55F-4005-BAC6-EAF3737F2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8575" y="2219325"/>
            <a:ext cx="21812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0B0C0D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0B0C0D"/>
                </a:solidFill>
                <a:latin typeface="Arial"/>
                <a:ea typeface="Arial"/>
                <a:cs typeface="Arial"/>
              </a:rPr>
              <a:t>POST /guess-rounds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57A0FD3-3188-4690-B6D3-1B3370A3F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914650"/>
            <a:ext cx="2333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FF37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EC27C72-D27B-49AB-AADF-C72E2AA2C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762250"/>
            <a:ext cx="152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 i="0">
                <a:solidFill>
                  <a:srgbClr val="D9FF37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D9FF37"/>
                </a:solidFill>
                <a:latin typeface="Arial"/>
                <a:ea typeface="Arial"/>
                <a:cs typeface="Arial"/>
              </a:rPr>
              <a:t>›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81E81EF-25DB-4E15-9F15-37EEC2727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676525"/>
            <a:ext cx="21812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0B0C0D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0B0C0D"/>
                </a:solidFill>
                <a:latin typeface="Arial"/>
                <a:ea typeface="Arial"/>
                <a:cs typeface="Arial"/>
              </a:rPr>
              <a:t>createRound(userId)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27A7B93-A901-4763-A494-D8202C33E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3371850"/>
            <a:ext cx="2333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FF37"/>
          </a:solidFill>
          <a:ln xmlns:a="http://schemas.openxmlformats.org/drawingml/2006/main" w="0">
            <a:noFill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FF85D9B-844E-4E23-A01E-AE1C4443B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0375" y="3219450"/>
            <a:ext cx="152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 i="0">
                <a:solidFill>
                  <a:srgbClr val="D9FF37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D9FF37"/>
                </a:solidFill>
                <a:latin typeface="Arial"/>
                <a:ea typeface="Arial"/>
                <a:cs typeface="Arial"/>
              </a:rPr>
              <a:t>›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71A27DF-E78F-4AED-88A8-3BA948C58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5825" y="3133725"/>
            <a:ext cx="21812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0B0C0D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0B0C0D"/>
                </a:solidFill>
                <a:latin typeface="Arial"/>
                <a:ea typeface="Arial"/>
                <a:cs typeface="Arial"/>
              </a:rPr>
              <a:t>reserve prompt + deadline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CC08D51-5B78-4358-9014-33B4186F4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3905250"/>
            <a:ext cx="4667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FF37"/>
          </a:solidFill>
          <a:ln xmlns:a="http://schemas.openxmlformats.org/drawingml/2006/main" w="0">
            <a:noFill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9C784EF-A7FF-4563-ABF6-83676373C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3752850"/>
            <a:ext cx="152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 i="0">
                <a:solidFill>
                  <a:srgbClr val="D9FF37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D9FF37"/>
                </a:solidFill>
                <a:latin typeface="Arial"/>
                <a:ea typeface="Arial"/>
                <a:cs typeface="Arial"/>
              </a:rPr>
              <a:t>‹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FAF25D4-DFC8-4A80-985B-95449E94B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8575" y="3667125"/>
            <a:ext cx="4514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0B0C0D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0B0C0D"/>
                </a:solidFill>
                <a:latin typeface="Arial"/>
                <a:ea typeface="Arial"/>
                <a:cs typeface="Arial"/>
              </a:rPr>
              <a:t>roundId + image + expiresAt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B443B17-6257-4356-B039-FE3394952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495800"/>
            <a:ext cx="2333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FF37"/>
          </a:solidFill>
          <a:ln xmlns:a="http://schemas.openxmlformats.org/drawingml/2006/main" w="0">
            <a:noFill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035FB40-F000-4FA4-A26A-BCDB8056A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4343400"/>
            <a:ext cx="152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 i="0">
                <a:solidFill>
                  <a:srgbClr val="D9FF37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D9FF37"/>
                </a:solidFill>
                <a:latin typeface="Arial"/>
                <a:ea typeface="Arial"/>
                <a:cs typeface="Arial"/>
              </a:rPr>
              <a:t>›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4B708A7-84AE-4A3D-B4A1-E0FDDF87D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257675"/>
            <a:ext cx="21812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0B0C0D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0B0C0D"/>
                </a:solidFill>
                <a:latin typeface="Arial"/>
                <a:ea typeface="Arial"/>
                <a:cs typeface="Arial"/>
              </a:rPr>
              <a:t>Отправить ответ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428A49C-3674-4394-B8C4-61E17A55A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4953000"/>
            <a:ext cx="4667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148"/>
          </a:solidFill>
          <a:ln xmlns:a="http://schemas.openxmlformats.org/drawingml/2006/main" w="0">
            <a:noFill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3C4FC24-9709-4059-A639-90551AD12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800600"/>
            <a:ext cx="152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 i="0">
                <a:solidFill>
                  <a:srgbClr val="FF5148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FF5148"/>
                </a:solidFill>
                <a:latin typeface="Arial"/>
                <a:ea typeface="Arial"/>
                <a:cs typeface="Arial"/>
              </a:rPr>
              <a:t>›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D1F062B-9CC8-4056-A1A7-45D422A43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8575" y="4714875"/>
            <a:ext cx="4514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0B0C0D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0B0C0D"/>
                </a:solidFill>
                <a:latin typeface="Arial"/>
                <a:ea typeface="Arial"/>
                <a:cs typeface="Arial"/>
              </a:rPr>
              <a:t>answer + idempotency key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094865D-9877-4420-9246-B4BF432A9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5410200"/>
            <a:ext cx="2333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148"/>
          </a:solidFill>
          <a:ln xmlns:a="http://schemas.openxmlformats.org/drawingml/2006/main" w="0">
            <a:noFill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31C0B05-2AAB-4CB2-980A-EDA1AD0DA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0375" y="5257800"/>
            <a:ext cx="152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 i="0">
                <a:solidFill>
                  <a:srgbClr val="FF5148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FF5148"/>
                </a:solidFill>
                <a:latin typeface="Arial"/>
                <a:ea typeface="Arial"/>
                <a:cs typeface="Arial"/>
              </a:rPr>
              <a:t>›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038FAB5-ED12-4AAB-B95D-2AB6FC868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5825" y="5172075"/>
            <a:ext cx="21812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0B0C0D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B0C0D"/>
                </a:solidFill>
                <a:latin typeface="Arial"/>
                <a:ea typeface="Arial"/>
                <a:cs typeface="Arial"/>
              </a:rPr>
              <a:t>lock, match, ledger, close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D466441-001C-411F-82F3-5AE1D999F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5867400"/>
            <a:ext cx="4667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148"/>
          </a:solidFill>
          <a:ln xmlns:a="http://schemas.openxmlformats.org/drawingml/2006/main" w="0">
            <a:noFill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F557512-D5F4-4508-B83B-C36AE6CD5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5715000"/>
            <a:ext cx="152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 i="0">
                <a:solidFill>
                  <a:srgbClr val="FF5148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FF5148"/>
                </a:solidFill>
                <a:latin typeface="Arial"/>
                <a:ea typeface="Arial"/>
                <a:cs typeface="Arial"/>
              </a:rPr>
              <a:t>‹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59FBA14-55BE-4718-8C2C-317BDEAB5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8575" y="5629275"/>
            <a:ext cx="4514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0B0C0D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0B0C0D"/>
                </a:solidFill>
                <a:latin typeface="Arial"/>
                <a:ea typeface="Arial"/>
                <a:cs typeface="Arial"/>
              </a:rPr>
              <a:t>score + outcome + balance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BC7AAA8-D8F3-48A9-8401-0CC091F62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105525"/>
            <a:ext cx="10763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FF5148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FF5148"/>
                </a:solidFill>
                <a:latin typeface="Arial"/>
                <a:ea typeface="Arial"/>
                <a:cs typeface="Arial"/>
              </a:rPr>
              <a:t>Скрытый ответ и словарь синонимов не уходят в браузер. Повторная отправка возвращает прежний результат без второй награды.</a:t>
            </a:r>
          </a:p>
        </p:txBody>
      </p:sp>
    </p:spTree>
    <p:extLst>
      <p:ext uri="{BB962C8B-B14F-4D97-AF65-F5344CB8AC3E}">
        <p14:creationId xmlns:p14="http://schemas.microsoft.com/office/powerpoint/2010/main" val="48413869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B0C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0089F3F7-3B21-4EF6-B1D5-6C63C306E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33375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D9FF3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D9FF37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1003DF8-E84C-4633-9759-913091E27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66700"/>
            <a:ext cx="10096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 i="0">
                <a:solidFill>
                  <a:srgbClr val="F1F0E9"/>
                </a:solidFill>
                <a:latin typeface="Arial"/>
                <a:ea typeface="Arial"/>
                <a:cs typeface="Arial"/>
              </a:defRPr>
            </a:pPr>
            <a:r>
              <a:rPr sz="2400" b="1" i="0">
                <a:solidFill>
                  <a:srgbClr val="F1F0E9"/>
                </a:solidFill>
                <a:latin typeface="Arial"/>
                <a:ea typeface="Arial"/>
                <a:cs typeface="Arial"/>
              </a:rPr>
              <a:t>Ключевые ветки и ошибочные сценарии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1BDED3-9138-4DEE-BA6C-03CFEE427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66775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3634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C52ADA2-6CF5-4D91-95FB-A51846DF7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2476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1" i="0">
                <a:solidFill>
                  <a:srgbClr val="5B5E5A"/>
                </a:solidFill>
                <a:latin typeface="Arial"/>
                <a:ea typeface="Arial"/>
                <a:cs typeface="Arial"/>
              </a:defRPr>
            </a:pPr>
            <a:r>
              <a:rPr sz="750" b="1" i="0">
                <a:solidFill>
                  <a:srgbClr val="5B5E5A"/>
                </a:solidFill>
                <a:latin typeface="Arial"/>
                <a:ea typeface="Arial"/>
                <a:cs typeface="Arial"/>
              </a:rPr>
              <a:t>ДЯХАНEXCHANGE, G1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349EAA-95C6-4A0D-B8CC-FD0EDAF5E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7239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1" i="0">
                <a:solidFill>
                  <a:srgbClr val="5B5E5A"/>
                </a:solidFill>
                <a:latin typeface="Arial"/>
                <a:ea typeface="Arial"/>
                <a:cs typeface="Arial"/>
              </a:defRPr>
            </a:pPr>
            <a:r>
              <a:rPr sz="750" b="1" i="0">
                <a:solidFill>
                  <a:srgbClr val="5B5E5A"/>
                </a:solidFill>
                <a:latin typeface="Arial"/>
                <a:ea typeface="Arial"/>
                <a:cs typeface="Arial"/>
              </a:rPr>
              <a:t>17.09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C5A71E3-ED7F-43F9-9313-B0F486366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5716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FF5148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FF5148"/>
                </a:solidFill>
                <a:latin typeface="Arial"/>
                <a:ea typeface="Arial"/>
                <a:cs typeface="Arial"/>
              </a:rPr>
              <a:t>МЕМ-РУЛЕТКА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7704F4-F947-46ED-802C-2B173181D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1352550"/>
            <a:ext cx="1571625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121415"/>
          </a:solidFill>
          <a:ln xmlns:a="http://schemas.openxmlformats.org/drawingml/2006/main" w="9525">
            <a:solidFill>
              <a:srgbClr val="FF5148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AF173BA-59F6-4641-8A28-C02D9D56D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1504950"/>
            <a:ext cx="1381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F1F0E9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F1F0E9"/>
                </a:solidFill>
                <a:latin typeface="Arial"/>
                <a:ea typeface="Arial"/>
                <a:cs typeface="Arial"/>
              </a:rPr>
              <a:t>Показать риск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8313B11-F091-4B21-A314-2C7DEA2EB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1352550"/>
            <a:ext cx="1571625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121415"/>
          </a:solidFill>
          <a:ln xmlns:a="http://schemas.openxmlformats.org/drawingml/2006/main" w="9525">
            <a:solidFill>
              <a:srgbClr val="FF5148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51621DE-9ADE-4899-B43B-78E8A2C0D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1504950"/>
            <a:ext cx="1381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F1F0E9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F1F0E9"/>
                </a:solidFill>
                <a:latin typeface="Arial"/>
                <a:ea typeface="Arial"/>
                <a:cs typeface="Arial"/>
              </a:rPr>
              <a:t>Commit результата</a:t>
            </a:r>
          </a:p>
        </p:txBody>
      </p:sp>
      <p:cxnSp>
        <p:nvCxnSpPr>
          <p:cNvPr id="76" name=""/>
          <p:cNvCxnSpPr>
            <a:stCxn xmlns:a="http://schemas.openxmlformats.org/drawingml/2006/main" id="7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3762375" y="1704975"/>
            <a:ext cx="2762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F5148"/>
            </a:solidFill>
            <a:prstDash val="solid"/>
            <a:tailEnd type="arrow" w="sm" len="sm"/>
          </a:ln>
        </p:spPr>
      </p:cxn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15BC588-ECF1-4B30-B70A-3E50FE695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1352550"/>
            <a:ext cx="1571625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121415"/>
          </a:solidFill>
          <a:ln xmlns:a="http://schemas.openxmlformats.org/drawingml/2006/main" w="9525">
            <a:solidFill>
              <a:srgbClr val="FF5148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E0D8770-7977-4AF0-90AA-4087F0D8D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1504950"/>
            <a:ext cx="1381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F1F0E9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F1F0E9"/>
                </a:solidFill>
                <a:latin typeface="Arial"/>
                <a:ea typeface="Arial"/>
                <a:cs typeface="Arial"/>
              </a:rPr>
              <a:t>Canvas + WebAudio</a:t>
            </a:r>
          </a:p>
        </p:txBody>
      </p:sp>
      <p:cxnSp>
        <p:nvCxnSpPr>
          <p:cNvPr id="79" name=""/>
          <p:cNvCxnSpPr>
            <a:stCxn xmlns:a="http://schemas.openxmlformats.org/drawingml/2006/main" id="9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5610225" y="1704975"/>
            <a:ext cx="2762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F5148"/>
            </a:solidFill>
            <a:prstDash val="solid"/>
            <a:tailEnd type="arrow" w="sm" len="sm"/>
          </a:ln>
        </p:spPr>
      </p:cxn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46E783D-9124-4894-9A0D-7FFCDBAB4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1352550"/>
            <a:ext cx="1571625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121415"/>
          </a:solidFill>
          <a:ln xmlns:a="http://schemas.openxmlformats.org/drawingml/2006/main" w="9525">
            <a:solidFill>
              <a:srgbClr val="FF5148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752E04C-2609-4018-9E4A-BB3BDE6ED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1504950"/>
            <a:ext cx="1381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F1F0E9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F1F0E9"/>
                </a:solidFill>
                <a:latin typeface="Arial"/>
                <a:ea typeface="Arial"/>
                <a:cs typeface="Arial"/>
              </a:rPr>
              <a:t>Ledger settlement</a:t>
            </a:r>
          </a:p>
        </p:txBody>
      </p:sp>
      <p:cxnSp>
        <p:nvCxnSpPr>
          <p:cNvPr id="82" name=""/>
          <p:cNvCxnSpPr>
            <a:stCxn xmlns:a="http://schemas.openxmlformats.org/drawingml/2006/main" id="12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7458075" y="1704975"/>
            <a:ext cx="2762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F5148"/>
            </a:solidFill>
            <a:prstDash val="solid"/>
            <a:tailEnd type="arrow" w="sm" len="sm"/>
          </a:ln>
        </p:spPr>
      </p:cxn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C1A3DA1-2C0D-4CC8-AEC7-D0F017AD8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1352550"/>
            <a:ext cx="1571625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121415"/>
          </a:solidFill>
          <a:ln xmlns:a="http://schemas.openxmlformats.org/drawingml/2006/main" w="9525">
            <a:solidFill>
              <a:srgbClr val="5B5E5A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11DF247-8F56-4FDE-B746-A85BA9477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1504950"/>
            <a:ext cx="1381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0" i="0">
                <a:solidFill>
                  <a:srgbClr val="A4A6A1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A4A6A1"/>
                </a:solidFill>
                <a:latin typeface="Arial"/>
                <a:ea typeface="Arial"/>
                <a:cs typeface="Arial"/>
              </a:rPr>
              <a:t>Ошибка сети: запросить итог по roundId</a:t>
            </a:r>
          </a:p>
        </p:txBody>
      </p:sp>
      <p:cxnSp>
        <p:nvCxnSpPr>
          <p:cNvPr id="85" name=""/>
          <p:cNvCxnSpPr>
            <a:stCxn xmlns:a="http://schemas.openxmlformats.org/drawingml/2006/main" id="15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9305925" y="1704975"/>
            <a:ext cx="2762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F5148"/>
            </a:solidFill>
            <a:prstDash val="solid"/>
            <a:tailEnd type="arrow" w="sm" len="sm"/>
          </a:ln>
        </p:spPr>
      </p:cxn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EB9E38E-D68A-42D2-B231-6A04C6CA8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781300"/>
            <a:ext cx="15716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86A8FF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86A8FF"/>
                </a:solidFill>
                <a:latin typeface="Arial"/>
                <a:ea typeface="Arial"/>
                <a:cs typeface="Arial"/>
              </a:rPr>
              <a:t>СЛОП-ДУЭЛЬ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D2DADB1-DC66-4235-BCF8-B7C30C7B6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552700"/>
            <a:ext cx="1571625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121415"/>
          </a:solidFill>
          <a:ln xmlns:a="http://schemas.openxmlformats.org/drawingml/2006/main" w="9525">
            <a:solidFill>
              <a:srgbClr val="86A8FF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23F6342-CA5E-4470-9D7C-AE438F17A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705100"/>
            <a:ext cx="1381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F1F0E9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F1F0E9"/>
                </a:solidFill>
                <a:latin typeface="Arial"/>
                <a:ea typeface="Arial"/>
                <a:cs typeface="Arial"/>
              </a:rPr>
              <a:t>Matchmaking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EB1C318-808E-4A29-B4B1-A1CBB3881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2552700"/>
            <a:ext cx="1571625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121415"/>
          </a:solidFill>
          <a:ln xmlns:a="http://schemas.openxmlformats.org/drawingml/2006/main" w="9525">
            <a:solidFill>
              <a:srgbClr val="86A8FF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053E2F3-3765-43DC-B8D5-79784BD2C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2705100"/>
            <a:ext cx="1381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F1F0E9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F1F0E9"/>
                </a:solidFill>
                <a:latin typeface="Arial"/>
                <a:ea typeface="Arial"/>
                <a:cs typeface="Arial"/>
              </a:rPr>
              <a:t>Общий server deadline</a:t>
            </a:r>
          </a:p>
        </p:txBody>
      </p:sp>
      <p:cxnSp>
        <p:nvCxnSpPr>
          <p:cNvPr id="91" name=""/>
          <p:cNvCxnSpPr>
            <a:stCxn xmlns:a="http://schemas.openxmlformats.org/drawingml/2006/main" id="22" idx="3"/>
            <a:endCxn xmlns:a="http://schemas.openxmlformats.org/drawingml/2006/main" id="24" idx="1"/>
          </p:cNvCxnSpPr>
          <p:nvPr/>
        </p:nvCxnSpPr>
        <p:spPr>
          <a:xfrm xmlns:a="http://schemas.openxmlformats.org/drawingml/2006/main">
            <a:off x="3762375" y="2905125"/>
            <a:ext cx="2762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86A8FF"/>
            </a:solidFill>
            <a:prstDash val="solid"/>
            <a:tailEnd type="arrow" w="sm" len="sm"/>
          </a:ln>
        </p:spPr>
      </p:cxn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329B78F-CF27-4674-845A-6E7E87E15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2552700"/>
            <a:ext cx="1571625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121415"/>
          </a:solidFill>
          <a:ln xmlns:a="http://schemas.openxmlformats.org/drawingml/2006/main" w="9525">
            <a:solidFill>
              <a:srgbClr val="86A8FF"/>
            </a:solidFill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A3D5712-7CB0-4907-8937-341D0B514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705100"/>
            <a:ext cx="1381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F1F0E9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F1F0E9"/>
                </a:solidFill>
                <a:latin typeface="Arial"/>
                <a:ea typeface="Arial"/>
                <a:cs typeface="Arial"/>
              </a:rPr>
              <a:t>Ответы и голоса</a:t>
            </a:r>
          </a:p>
        </p:txBody>
      </p:sp>
      <p:cxnSp>
        <p:nvCxnSpPr>
          <p:cNvPr id="94" name=""/>
          <p:cNvCxnSpPr>
            <a:stCxn xmlns:a="http://schemas.openxmlformats.org/drawingml/2006/main" id="24" idx="3"/>
            <a:endCxn xmlns:a="http://schemas.openxmlformats.org/drawingml/2006/main" id="27" idx="1"/>
          </p:cNvCxnSpPr>
          <p:nvPr/>
        </p:nvCxnSpPr>
        <p:spPr>
          <a:xfrm xmlns:a="http://schemas.openxmlformats.org/drawingml/2006/main">
            <a:off x="5610225" y="2905125"/>
            <a:ext cx="2762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86A8FF"/>
            </a:solidFill>
            <a:prstDash val="solid"/>
            <a:tailEnd type="arrow" w="sm" len="sm"/>
          </a:ln>
        </p:spPr>
      </p:cxn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A55F0F7-E37D-442B-9C55-F89A47AF5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552700"/>
            <a:ext cx="1571625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121415"/>
          </a:solidFill>
          <a:ln xmlns:a="http://schemas.openxmlformats.org/drawingml/2006/main" w="9525">
            <a:solidFill>
              <a:srgbClr val="86A8FF"/>
            </a:solidFill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D585466-2992-4744-B003-33CF28461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705100"/>
            <a:ext cx="1381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F1F0E9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F1F0E9"/>
                </a:solidFill>
                <a:latin typeface="Arial"/>
                <a:ea typeface="Arial"/>
                <a:cs typeface="Arial"/>
              </a:rPr>
              <a:t>Atomic settlement</a:t>
            </a:r>
          </a:p>
        </p:txBody>
      </p:sp>
      <p:cxnSp>
        <p:nvCxnSpPr>
          <p:cNvPr id="97" name=""/>
          <p:cNvCxnSpPr>
            <a:stCxn xmlns:a="http://schemas.openxmlformats.org/drawingml/2006/main" id="27" idx="3"/>
            <a:endCxn xmlns:a="http://schemas.openxmlformats.org/drawingml/2006/main" id="30" idx="1"/>
          </p:cNvCxnSpPr>
          <p:nvPr/>
        </p:nvCxnSpPr>
        <p:spPr>
          <a:xfrm xmlns:a="http://schemas.openxmlformats.org/drawingml/2006/main">
            <a:off x="7458075" y="2905125"/>
            <a:ext cx="2762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86A8FF"/>
            </a:solidFill>
            <a:prstDash val="solid"/>
            <a:tailEnd type="arrow" w="sm" len="sm"/>
          </a:ln>
        </p:spPr>
      </p:cxn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0041A35-A507-4139-9847-462AF65C4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552700"/>
            <a:ext cx="1571625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121415"/>
          </a:solidFill>
          <a:ln xmlns:a="http://schemas.openxmlformats.org/drawingml/2006/main" w="9525">
            <a:solidFill>
              <a:srgbClr val="5B5E5A"/>
            </a:solidFill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A3DD91A-0E03-418D-B045-6C520CD8B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2705100"/>
            <a:ext cx="1381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0" i="0">
                <a:solidFill>
                  <a:srgbClr val="A4A6A1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A4A6A1"/>
                </a:solidFill>
                <a:latin typeface="Arial"/>
                <a:ea typeface="Arial"/>
                <a:cs typeface="Arial"/>
              </a:rPr>
              <a:t>Reconnect: восстановить duelId</a:t>
            </a:r>
          </a:p>
        </p:txBody>
      </p:sp>
      <p:cxnSp>
        <p:nvCxnSpPr>
          <p:cNvPr id="100" name=""/>
          <p:cNvCxnSpPr>
            <a:stCxn xmlns:a="http://schemas.openxmlformats.org/drawingml/2006/main" id="30" idx="3"/>
            <a:endCxn xmlns:a="http://schemas.openxmlformats.org/drawingml/2006/main" id="33" idx="1"/>
          </p:cNvCxnSpPr>
          <p:nvPr/>
        </p:nvCxnSpPr>
        <p:spPr>
          <a:xfrm xmlns:a="http://schemas.openxmlformats.org/drawingml/2006/main">
            <a:off x="9305925" y="2905125"/>
            <a:ext cx="2762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86A8FF"/>
            </a:solidFill>
            <a:prstDash val="solid"/>
            <a:tailEnd type="arrow" w="sm" len="sm"/>
          </a:ln>
        </p:spPr>
      </p:cxn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9753C28-1FA4-4FE7-9B85-4517A1434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981450"/>
            <a:ext cx="15716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D9FF37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D9FF37"/>
                </a:solidFill>
                <a:latin typeface="Arial"/>
                <a:ea typeface="Arial"/>
                <a:cs typeface="Arial"/>
              </a:rPr>
              <a:t>P2P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7304EAC-5D79-4B8A-AC4C-823E82781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752850"/>
            <a:ext cx="1571625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121415"/>
          </a:solidFill>
          <a:ln xmlns:a="http://schemas.openxmlformats.org/drawingml/2006/main" w="9525">
            <a:solidFill>
              <a:srgbClr val="D9FF37"/>
            </a:solidFill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A5AEB58-9A76-4004-BEDD-DE7988408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905250"/>
            <a:ext cx="1381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F1F0E9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F1F0E9"/>
                </a:solidFill>
                <a:latin typeface="Arial"/>
                <a:ea typeface="Arial"/>
                <a:cs typeface="Arial"/>
              </a:rPr>
              <a:t>Создать ордер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F7560A8-5C2D-44E6-BB7A-F519227F4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3752850"/>
            <a:ext cx="1571625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121415"/>
          </a:solidFill>
          <a:ln xmlns:a="http://schemas.openxmlformats.org/drawingml/2006/main" w="9525">
            <a:solidFill>
              <a:srgbClr val="D9FF37"/>
            </a:solidFill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76BED06-51A1-4E2C-BAB5-72D219A86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3905250"/>
            <a:ext cx="1381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F1F0E9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F1F0E9"/>
                </a:solidFill>
                <a:latin typeface="Arial"/>
                <a:ea typeface="Arial"/>
                <a:cs typeface="Arial"/>
              </a:rPr>
              <a:t>Резерв баланса</a:t>
            </a:r>
          </a:p>
        </p:txBody>
      </p:sp>
      <p:cxnSp>
        <p:nvCxnSpPr>
          <p:cNvPr id="106" name=""/>
          <p:cNvCxnSpPr>
            <a:stCxn xmlns:a="http://schemas.openxmlformats.org/drawingml/2006/main" id="37" idx="3"/>
            <a:endCxn xmlns:a="http://schemas.openxmlformats.org/drawingml/2006/main" id="39" idx="1"/>
          </p:cNvCxnSpPr>
          <p:nvPr/>
        </p:nvCxnSpPr>
        <p:spPr>
          <a:xfrm xmlns:a="http://schemas.openxmlformats.org/drawingml/2006/main">
            <a:off x="3762375" y="4105275"/>
            <a:ext cx="2762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D9FF37"/>
            </a:solidFill>
            <a:prstDash val="solid"/>
            <a:tailEnd type="arrow" w="sm" len="sm"/>
          </a:ln>
        </p:spPr>
      </p:cxn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4714E53-3DD1-4AA9-93CC-74E604142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3752850"/>
            <a:ext cx="1571625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121415"/>
          </a:solidFill>
          <a:ln xmlns:a="http://schemas.openxmlformats.org/drawingml/2006/main" w="9525">
            <a:solidFill>
              <a:srgbClr val="D9FF37"/>
            </a:solidFill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935739E-77A9-49B1-8368-828536945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905250"/>
            <a:ext cx="1381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F1F0E9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F1F0E9"/>
                </a:solidFill>
                <a:latin typeface="Arial"/>
                <a:ea typeface="Arial"/>
                <a:cs typeface="Arial"/>
              </a:rPr>
              <a:t>Подтвердить сделку</a:t>
            </a:r>
          </a:p>
        </p:txBody>
      </p:sp>
      <p:cxnSp>
        <p:nvCxnSpPr>
          <p:cNvPr id="109" name=""/>
          <p:cNvCxnSpPr>
            <a:stCxn xmlns:a="http://schemas.openxmlformats.org/drawingml/2006/main" id="39" idx="3"/>
            <a:endCxn xmlns:a="http://schemas.openxmlformats.org/drawingml/2006/main" id="42" idx="1"/>
          </p:cNvCxnSpPr>
          <p:nvPr/>
        </p:nvCxnSpPr>
        <p:spPr>
          <a:xfrm xmlns:a="http://schemas.openxmlformats.org/drawingml/2006/main">
            <a:off x="5610225" y="4105275"/>
            <a:ext cx="2762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D9FF37"/>
            </a:solidFill>
            <a:prstDash val="solid"/>
            <a:tailEnd type="arrow" w="sm" len="sm"/>
          </a:ln>
        </p:spPr>
      </p:cxn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0A9B713-CAB1-4B13-A2DB-937250640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752850"/>
            <a:ext cx="1571625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121415"/>
          </a:solidFill>
          <a:ln xmlns:a="http://schemas.openxmlformats.org/drawingml/2006/main" w="9525">
            <a:solidFill>
              <a:srgbClr val="D9FF37"/>
            </a:solidFill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232DCFE-DC90-4BED-A203-BD81F7754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3905250"/>
            <a:ext cx="1381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F1F0E9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F1F0E9"/>
                </a:solidFill>
                <a:latin typeface="Arial"/>
                <a:ea typeface="Arial"/>
                <a:cs typeface="Arial"/>
              </a:rPr>
              <a:t>Settlement / отмена</a:t>
            </a:r>
          </a:p>
        </p:txBody>
      </p:sp>
      <p:cxnSp>
        <p:nvCxnSpPr>
          <p:cNvPr id="112" name=""/>
          <p:cNvCxnSpPr>
            <a:stCxn xmlns:a="http://schemas.openxmlformats.org/drawingml/2006/main" id="42" idx="3"/>
            <a:endCxn xmlns:a="http://schemas.openxmlformats.org/drawingml/2006/main" id="45" idx="1"/>
          </p:cNvCxnSpPr>
          <p:nvPr/>
        </p:nvCxnSpPr>
        <p:spPr>
          <a:xfrm xmlns:a="http://schemas.openxmlformats.org/drawingml/2006/main">
            <a:off x="7458075" y="4105275"/>
            <a:ext cx="2762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D9FF37"/>
            </a:solidFill>
            <a:prstDash val="solid"/>
            <a:tailEnd type="arrow" w="sm" len="sm"/>
          </a:ln>
        </p:spPr>
      </p:cxn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F8C28928-824D-403F-9160-C2A6DEC34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3752850"/>
            <a:ext cx="1571625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121415"/>
          </a:solidFill>
          <a:ln xmlns:a="http://schemas.openxmlformats.org/drawingml/2006/main" w="9525">
            <a:solidFill>
              <a:srgbClr val="5B5E5A"/>
            </a:solidFill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D07AD63E-1EB8-4355-841D-C2A6C5992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3905250"/>
            <a:ext cx="1381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0" i="0">
                <a:solidFill>
                  <a:srgbClr val="A4A6A1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A4A6A1"/>
                </a:solidFill>
                <a:latin typeface="Arial"/>
                <a:ea typeface="Arial"/>
                <a:cs typeface="Arial"/>
              </a:rPr>
              <a:t>Double spend блокирует сервер</a:t>
            </a:r>
          </a:p>
        </p:txBody>
      </p:sp>
      <p:cxnSp>
        <p:nvCxnSpPr>
          <p:cNvPr id="115" name=""/>
          <p:cNvCxnSpPr>
            <a:stCxn xmlns:a="http://schemas.openxmlformats.org/drawingml/2006/main" id="45" idx="3"/>
            <a:endCxn xmlns:a="http://schemas.openxmlformats.org/drawingml/2006/main" id="48" idx="1"/>
          </p:cNvCxnSpPr>
          <p:nvPr/>
        </p:nvCxnSpPr>
        <p:spPr>
          <a:xfrm xmlns:a="http://schemas.openxmlformats.org/drawingml/2006/main">
            <a:off x="9305925" y="4105275"/>
            <a:ext cx="2762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D9FF37"/>
            </a:solidFill>
            <a:prstDash val="solid"/>
            <a:tailEnd type="arrow" w="sm" len="sm"/>
          </a:ln>
        </p:spPr>
      </p:cxn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BC28E5F7-95B3-46F2-835E-DF69BDAB2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181600"/>
            <a:ext cx="15716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F1F0E9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F1F0E9"/>
                </a:solidFill>
                <a:latin typeface="Arial"/>
                <a:ea typeface="Arial"/>
                <a:cs typeface="Arial"/>
              </a:rPr>
              <a:t>КРЕДИТ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A6B82D6A-FF71-4765-85F9-D8E1CDEB3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953000"/>
            <a:ext cx="1571625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121415"/>
          </a:solidFill>
          <a:ln xmlns:a="http://schemas.openxmlformats.org/drawingml/2006/main" w="9525">
            <a:solidFill>
              <a:srgbClr val="F1F0E9"/>
            </a:solidFill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3418C10F-C031-415A-A757-4487A054F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5105400"/>
            <a:ext cx="1381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F1F0E9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F1F0E9"/>
                </a:solidFill>
                <a:latin typeface="Arial"/>
                <a:ea typeface="Arial"/>
                <a:cs typeface="Arial"/>
              </a:rPr>
              <a:t>Баланс = 0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FCDEFB4A-D05C-490C-8353-99BAA0B6C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953000"/>
            <a:ext cx="1571625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121415"/>
          </a:solidFill>
          <a:ln xmlns:a="http://schemas.openxmlformats.org/drawingml/2006/main" w="9525">
            <a:solidFill>
              <a:srgbClr val="F1F0E9"/>
            </a:solidFill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04AD0F37-8FA9-4C31-B248-456ECAB1C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5105400"/>
            <a:ext cx="1381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F1F0E9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F1F0E9"/>
                </a:solidFill>
                <a:latin typeface="Arial"/>
                <a:ea typeface="Arial"/>
                <a:cs typeface="Arial"/>
              </a:rPr>
              <a:t>Подтвердить условия</a:t>
            </a:r>
          </a:p>
        </p:txBody>
      </p:sp>
      <p:cxnSp>
        <p:nvCxnSpPr>
          <p:cNvPr id="121" name=""/>
          <p:cNvCxnSpPr>
            <a:stCxn xmlns:a="http://schemas.openxmlformats.org/drawingml/2006/main" id="52" idx="3"/>
            <a:endCxn xmlns:a="http://schemas.openxmlformats.org/drawingml/2006/main" id="54" idx="1"/>
          </p:cNvCxnSpPr>
          <p:nvPr/>
        </p:nvCxnSpPr>
        <p:spPr>
          <a:xfrm xmlns:a="http://schemas.openxmlformats.org/drawingml/2006/main">
            <a:off x="3762375" y="5305425"/>
            <a:ext cx="2762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1F0E9"/>
            </a:solidFill>
            <a:prstDash val="solid"/>
            <a:tailEnd type="arrow" w="sm" len="sm"/>
          </a:ln>
        </p:spPr>
      </p:cxn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2D3252CC-4A8A-4488-8A0A-28D50DBE1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4953000"/>
            <a:ext cx="1571625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121415"/>
          </a:solidFill>
          <a:ln xmlns:a="http://schemas.openxmlformats.org/drawingml/2006/main" w="9525">
            <a:solidFill>
              <a:srgbClr val="F1F0E9"/>
            </a:solidFill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13FBA9DE-2D6A-4073-8774-2A5443C9A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5105400"/>
            <a:ext cx="1381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F1F0E9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F1F0E9"/>
                </a:solidFill>
                <a:latin typeface="Arial"/>
                <a:ea typeface="Arial"/>
                <a:cs typeface="Arial"/>
              </a:rPr>
              <a:t>Долг + таймер</a:t>
            </a:r>
          </a:p>
        </p:txBody>
      </p:sp>
      <p:cxnSp>
        <p:nvCxnSpPr>
          <p:cNvPr id="124" name=""/>
          <p:cNvCxnSpPr>
            <a:stCxn xmlns:a="http://schemas.openxmlformats.org/drawingml/2006/main" id="54" idx="3"/>
            <a:endCxn xmlns:a="http://schemas.openxmlformats.org/drawingml/2006/main" id="57" idx="1"/>
          </p:cNvCxnSpPr>
          <p:nvPr/>
        </p:nvCxnSpPr>
        <p:spPr>
          <a:xfrm xmlns:a="http://schemas.openxmlformats.org/drawingml/2006/main">
            <a:off x="5610225" y="5305425"/>
            <a:ext cx="2762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1F0E9"/>
            </a:solidFill>
            <a:prstDash val="solid"/>
            <a:tailEnd type="arrow" w="sm" len="sm"/>
          </a:ln>
        </p:spPr>
      </p:cxn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C82E4653-B0DE-4C10-8B4E-825EB0AE4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953000"/>
            <a:ext cx="1571625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121415"/>
          </a:solidFill>
          <a:ln xmlns:a="http://schemas.openxmlformats.org/drawingml/2006/main" w="9525">
            <a:solidFill>
              <a:srgbClr val="F1F0E9"/>
            </a:solidFill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59EA164D-8530-4AC8-A9C1-488550244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5105400"/>
            <a:ext cx="1381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F1F0E9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F1F0E9"/>
                </a:solidFill>
                <a:latin typeface="Arial"/>
                <a:ea typeface="Arial"/>
                <a:cs typeface="Arial"/>
              </a:rPr>
              <a:t>Погашение / SCAM</a:t>
            </a:r>
          </a:p>
        </p:txBody>
      </p:sp>
      <p:cxnSp>
        <p:nvCxnSpPr>
          <p:cNvPr id="127" name=""/>
          <p:cNvCxnSpPr>
            <a:stCxn xmlns:a="http://schemas.openxmlformats.org/drawingml/2006/main" id="57" idx="3"/>
            <a:endCxn xmlns:a="http://schemas.openxmlformats.org/drawingml/2006/main" id="60" idx="1"/>
          </p:cNvCxnSpPr>
          <p:nvPr/>
        </p:nvCxnSpPr>
        <p:spPr>
          <a:xfrm xmlns:a="http://schemas.openxmlformats.org/drawingml/2006/main">
            <a:off x="7458075" y="5305425"/>
            <a:ext cx="2762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1F0E9"/>
            </a:solidFill>
            <a:prstDash val="solid"/>
            <a:tailEnd type="arrow" w="sm" len="sm"/>
          </a:ln>
        </p:spPr>
      </p:cxn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A3001723-737A-4163-B85D-3108C867D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4953000"/>
            <a:ext cx="1571625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121415"/>
          </a:solidFill>
          <a:ln xmlns:a="http://schemas.openxmlformats.org/drawingml/2006/main" w="9525">
            <a:solidFill>
              <a:srgbClr val="5B5E5A"/>
            </a:solidFill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E54AF7C9-5AD5-4E74-8F82-93CF98C4B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5105400"/>
            <a:ext cx="1381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0" i="0">
                <a:solidFill>
                  <a:srgbClr val="A4A6A1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A4A6A1"/>
                </a:solidFill>
                <a:latin typeface="Arial"/>
                <a:ea typeface="Arial"/>
                <a:cs typeface="Arial"/>
              </a:rPr>
              <a:t>Бан ограничивает экономические действия</a:t>
            </a:r>
          </a:p>
        </p:txBody>
      </p:sp>
      <p:cxnSp>
        <p:nvCxnSpPr>
          <p:cNvPr id="130" name=""/>
          <p:cNvCxnSpPr>
            <a:stCxn xmlns:a="http://schemas.openxmlformats.org/drawingml/2006/main" id="60" idx="3"/>
            <a:endCxn xmlns:a="http://schemas.openxmlformats.org/drawingml/2006/main" id="63" idx="1"/>
          </p:cNvCxnSpPr>
          <p:nvPr/>
        </p:nvCxnSpPr>
        <p:spPr>
          <a:xfrm xmlns:a="http://schemas.openxmlformats.org/drawingml/2006/main">
            <a:off x="9305925" y="5305425"/>
            <a:ext cx="2762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1F0E9"/>
            </a:solidFill>
            <a:prstDash val="solid"/>
            <a:tailEnd type="arrow" w="sm" len="sm"/>
          </a:ln>
        </p:spPr>
      </p:cxnSp>
    </p:spTree>
    <p:extLst>
      <p:ext uri="{BB962C8B-B14F-4D97-AF65-F5344CB8AC3E}">
        <p14:creationId xmlns:p14="http://schemas.microsoft.com/office/powerpoint/2010/main" val="175925991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B0C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81184A4-570B-437C-B262-4FD591C59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33375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D9FF3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D9FF37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FEC3721-B874-4DAA-9F2C-237461E4A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66700"/>
            <a:ext cx="10096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 i="0">
                <a:solidFill>
                  <a:srgbClr val="F1F0E9"/>
                </a:solidFill>
                <a:latin typeface="Arial"/>
                <a:ea typeface="Arial"/>
                <a:cs typeface="Arial"/>
              </a:defRPr>
            </a:pPr>
            <a:r>
              <a:rPr sz="2400" b="1" i="0">
                <a:solidFill>
                  <a:srgbClr val="F1F0E9"/>
                </a:solidFill>
                <a:latin typeface="Arial"/>
                <a:ea typeface="Arial"/>
                <a:cs typeface="Arial"/>
              </a:rPr>
              <a:t>Модули и поток данных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97EB93E-940F-4DB4-97A0-08697F2E8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66775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3634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C8F9144-B5AA-4186-ACB0-8ABC5ECCF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2476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1" i="0">
                <a:solidFill>
                  <a:srgbClr val="5B5E5A"/>
                </a:solidFill>
                <a:latin typeface="Arial"/>
                <a:ea typeface="Arial"/>
                <a:cs typeface="Arial"/>
              </a:defRPr>
            </a:pPr>
            <a:r>
              <a:rPr sz="750" b="1" i="0">
                <a:solidFill>
                  <a:srgbClr val="5B5E5A"/>
                </a:solidFill>
                <a:latin typeface="Arial"/>
                <a:ea typeface="Arial"/>
                <a:cs typeface="Arial"/>
              </a:rPr>
              <a:t>ДЯХАНEXCHANGE, G1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6DCF12-F011-480E-8016-E3815052F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7239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1" i="0">
                <a:solidFill>
                  <a:srgbClr val="5B5E5A"/>
                </a:solidFill>
                <a:latin typeface="Arial"/>
                <a:ea typeface="Arial"/>
                <a:cs typeface="Arial"/>
              </a:defRPr>
            </a:pPr>
            <a:r>
              <a:rPr sz="750" b="1" i="0">
                <a:solidFill>
                  <a:srgbClr val="5B5E5A"/>
                </a:solidFill>
                <a:latin typeface="Arial"/>
                <a:ea typeface="Arial"/>
                <a:cs typeface="Arial"/>
              </a:rPr>
              <a:t>17.09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2BD590-0431-43D3-ADC5-41586A147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905000"/>
            <a:ext cx="200025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121415"/>
          </a:solidFill>
          <a:ln xmlns:a="http://schemas.openxmlformats.org/drawingml/2006/main" w="9525">
            <a:solidFill>
              <a:srgbClr val="D9FF37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D9FF37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D9FF37"/>
                </a:solidFill>
                <a:latin typeface="Arial"/>
                <a:ea typeface="Arial"/>
                <a:cs typeface="Arial"/>
              </a:rPr>
              <a:t>БРАУЗЕР</a:t>
            </a:r>
          </a:p>
          <a:p xmlns:a="http://schemas.openxmlformats.org/drawingml/2006/main">
            <a:pPr algn="ctr">
              <a:defRPr sz="1425" b="1">
                <a:solidFill>
                  <a:srgbClr val="D9FF37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D9FF37"/>
                </a:solidFill>
                <a:latin typeface="Arial"/>
                <a:ea typeface="Arial"/>
                <a:cs typeface="Arial"/>
              </a:rPr>
              <a:t>React + Redux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90ED3F0-C3B1-4AED-B962-64EF71A71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05250"/>
            <a:ext cx="20002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121415"/>
          </a:solidFill>
          <a:ln xmlns:a="http://schemas.openxmlformats.org/drawingml/2006/main" w="9525">
            <a:solidFill>
              <a:srgbClr val="86A8FF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86A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6A8FF"/>
                </a:solidFill>
                <a:latin typeface="Arial"/>
                <a:ea typeface="Arial"/>
                <a:cs typeface="Arial"/>
              </a:rPr>
              <a:t>WEB WORKER</a:t>
            </a:r>
          </a:p>
          <a:p xmlns:a="http://schemas.openxmlformats.org/drawingml/2006/main">
            <a:pPr algn="ctr">
              <a:defRPr sz="1200" b="1">
                <a:solidFill>
                  <a:srgbClr val="86A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6A8FF"/>
                </a:solidFill>
                <a:latin typeface="Arial"/>
                <a:ea typeface="Arial"/>
                <a:cs typeface="Arial"/>
              </a:rPr>
              <a:t>агрегация графика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749A365-462D-4D1C-8D95-A9F2E40B4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1905000"/>
            <a:ext cx="209550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121415"/>
          </a:solidFill>
          <a:ln xmlns:a="http://schemas.openxmlformats.org/drawingml/2006/main" w="9525">
            <a:solidFill>
              <a:srgbClr val="FF5148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5148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5148"/>
                </a:solidFill>
                <a:latin typeface="Arial"/>
                <a:ea typeface="Arial"/>
                <a:cs typeface="Arial"/>
              </a:rPr>
              <a:t>NESTJS GATEWAY</a:t>
            </a:r>
          </a:p>
          <a:p xmlns:a="http://schemas.openxmlformats.org/drawingml/2006/main">
            <a:pPr algn="ctr">
              <a:defRPr sz="1350" b="1">
                <a:solidFill>
                  <a:srgbClr val="FF5148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5148"/>
                </a:solidFill>
                <a:latin typeface="Arial"/>
                <a:ea typeface="Arial"/>
                <a:cs typeface="Arial"/>
              </a:rPr>
              <a:t>HTTP + WebSocket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673D391-D3CD-44AA-A6E5-B76CB196E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905000"/>
            <a:ext cx="219075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121415"/>
          </a:solidFill>
          <a:ln xmlns:a="http://schemas.openxmlformats.org/drawingml/2006/main" w="9525">
            <a:solidFill>
              <a:srgbClr val="F1F0E9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1F0E9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1F0E9"/>
                </a:solidFill>
                <a:latin typeface="Arial"/>
                <a:ea typeface="Arial"/>
                <a:cs typeface="Arial"/>
              </a:rPr>
              <a:t>SPRING CORE</a:t>
            </a:r>
          </a:p>
          <a:p xmlns:a="http://schemas.openxmlformats.org/drawingml/2006/main">
            <a:pPr algn="ctr">
              <a:defRPr sz="1350" b="1">
                <a:solidFill>
                  <a:srgbClr val="F1F0E9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1F0E9"/>
                </a:solidFill>
                <a:latin typeface="Arial"/>
                <a:ea typeface="Arial"/>
                <a:cs typeface="Arial"/>
              </a:rPr>
              <a:t>игры + ledger + P2P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237C6CB-B2F3-4863-ABC6-E55494183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1285875"/>
            <a:ext cx="180975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121415"/>
          </a:solidFill>
          <a:ln xmlns:a="http://schemas.openxmlformats.org/drawingml/2006/main" w="9525">
            <a:solidFill>
              <a:srgbClr val="D9FF37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D9FF37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D9FF37"/>
                </a:solidFill>
                <a:latin typeface="Arial"/>
                <a:ea typeface="Arial"/>
                <a:cs typeface="Arial"/>
              </a:rPr>
              <a:t>POSTGRESQL</a:t>
            </a:r>
          </a:p>
          <a:p xmlns:a="http://schemas.openxmlformats.org/drawingml/2006/main">
            <a:pPr algn="ctr">
              <a:defRPr sz="1200" b="1">
                <a:solidFill>
                  <a:srgbClr val="D9FF37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D9FF37"/>
                </a:solidFill>
                <a:latin typeface="Arial"/>
                <a:ea typeface="Arial"/>
                <a:cs typeface="Arial"/>
              </a:rPr>
              <a:t>источник истины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BB5252A-8AF9-45D6-A98E-66CBA1086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2647950"/>
            <a:ext cx="180975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121415"/>
          </a:solidFill>
          <a:ln xmlns:a="http://schemas.openxmlformats.org/drawingml/2006/main" w="9525">
            <a:solidFill>
              <a:srgbClr val="FF5148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5148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5148"/>
                </a:solidFill>
                <a:latin typeface="Arial"/>
                <a:ea typeface="Arial"/>
                <a:cs typeface="Arial"/>
              </a:rPr>
              <a:t>REDIS</a:t>
            </a:r>
          </a:p>
          <a:p xmlns:a="http://schemas.openxmlformats.org/drawingml/2006/main">
            <a:pPr algn="ctr">
              <a:defRPr sz="1125" b="1">
                <a:solidFill>
                  <a:srgbClr val="FF5148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5148"/>
                </a:solidFill>
                <a:latin typeface="Arial"/>
                <a:ea typeface="Arial"/>
                <a:cs typeface="Arial"/>
              </a:rPr>
              <a:t>matchmaking + pub/sub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CE199D6-EB4C-4A75-912D-6A6D6BB89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010025"/>
            <a:ext cx="180975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121415"/>
          </a:solidFill>
          <a:ln xmlns:a="http://schemas.openxmlformats.org/drawingml/2006/main" w="9525">
            <a:solidFill>
              <a:srgbClr val="86A8FF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86A8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86A8FF"/>
                </a:solidFill>
                <a:latin typeface="Arial"/>
                <a:ea typeface="Arial"/>
                <a:cs typeface="Arial"/>
              </a:rPr>
              <a:t>OBJECT STORAGE</a:t>
            </a:r>
          </a:p>
          <a:p xmlns:a="http://schemas.openxmlformats.org/drawingml/2006/main">
            <a:pPr algn="ctr">
              <a:defRPr sz="1125" b="1">
                <a:solidFill>
                  <a:srgbClr val="86A8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86A8FF"/>
                </a:solidFill>
                <a:latin typeface="Arial"/>
                <a:ea typeface="Arial"/>
                <a:cs typeface="Arial"/>
              </a:rPr>
              <a:t>мемы и нейрослоп</a:t>
            </a:r>
          </a:p>
        </p:txBody>
      </p:sp>
      <p:cxnSp>
        <p:nvCxnSpPr>
          <p:cNvPr id="35" name=""/>
          <p:cNvCxnSpPr>
            <a:stCxn xmlns:a="http://schemas.openxmlformats.org/drawingml/2006/main" id="6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2667000" y="2428875"/>
            <a:ext cx="10001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D9FF37"/>
            </a:solidFill>
            <a:prstDash val="solid"/>
            <a:tailEnd type="arrow" w="sm" len="sm"/>
          </a:ln>
        </p:spPr>
      </p:cxnSp>
      <p:cxnSp>
        <p:nvCxnSpPr>
          <p:cNvPr id="36" name=""/>
          <p:cNvCxnSpPr>
            <a:stCxn xmlns:a="http://schemas.openxmlformats.org/drawingml/2006/main" id="8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5762625" y="2428875"/>
            <a:ext cx="10001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F5148"/>
            </a:solidFill>
            <a:prstDash val="solid"/>
            <a:tailEnd type="arrow" w="sm" len="sm"/>
          </a:ln>
        </p:spPr>
      </p:cxnSp>
      <p:cxnSp>
        <p:nvCxnSpPr>
          <p:cNvPr id="37" name=""/>
          <p:cNvCxnSpPr>
            <a:stCxn xmlns:a="http://schemas.openxmlformats.org/drawingml/2006/main" id="9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 flipV="1">
            <a:off x="8953500" y="1704975"/>
            <a:ext cx="904875" cy="723900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D9FF37"/>
            </a:solidFill>
            <a:prstDash val="solid"/>
            <a:tailEnd type="arrow" w="sm" len="sm"/>
          </a:ln>
        </p:spPr>
      </p:cxnSp>
      <p:cxnSp>
        <p:nvCxnSpPr>
          <p:cNvPr id="38" name=""/>
          <p:cNvCxnSpPr>
            <a:stCxn xmlns:a="http://schemas.openxmlformats.org/drawingml/2006/main" id="9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8953500" y="2428875"/>
            <a:ext cx="904875" cy="638175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FF5148"/>
            </a:solidFill>
            <a:prstDash val="solid"/>
            <a:tailEnd type="arrow" w="sm" len="sm"/>
          </a:ln>
        </p:spPr>
      </p:cxnSp>
      <p:cxnSp>
        <p:nvCxnSpPr>
          <p:cNvPr id="39" name=""/>
          <p:cNvCxnSpPr>
            <a:stCxn xmlns:a="http://schemas.openxmlformats.org/drawingml/2006/main" id="9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8953500" y="2428875"/>
            <a:ext cx="904875" cy="2000250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86A8FF"/>
            </a:solidFill>
            <a:prstDash val="solid"/>
            <a:tailEnd type="arrow" w="sm" len="sm"/>
          </a:ln>
        </p:spPr>
      </p:cxnSp>
      <p:cxnSp>
        <p:nvCxnSpPr>
          <p:cNvPr id="40" name=""/>
          <p:cNvCxnSpPr>
            <a:stCxn xmlns:a="http://schemas.openxmlformats.org/drawingml/2006/main" id="6" idx="2"/>
            <a:endCxn xmlns:a="http://schemas.openxmlformats.org/drawingml/2006/main" id="7" idx="0"/>
          </p:cNvCxnSpPr>
          <p:nvPr/>
        </p:nvCxnSpPr>
        <p:spPr>
          <a:xfrm xmlns:a="http://schemas.openxmlformats.org/drawingml/2006/main">
            <a:off x="1666875" y="2952750"/>
            <a:ext cx="0" cy="9525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86A8FF"/>
            </a:solidFill>
            <a:prstDash val="solid"/>
            <a:tailEnd type="arrow" w="sm" len="sm"/>
          </a:ln>
        </p:spPr>
      </p:cxnSp>
      <p:cxnSp>
        <p:nvCxnSpPr>
          <p:cNvPr id="41" name=""/>
          <p:cNvCxnSpPr>
            <a:stCxn xmlns:a="http://schemas.openxmlformats.org/drawingml/2006/main" id="7" idx="0"/>
            <a:endCxn xmlns:a="http://schemas.openxmlformats.org/drawingml/2006/main" id="6" idx="2"/>
          </p:cNvCxnSpPr>
          <p:nvPr/>
        </p:nvCxnSpPr>
        <p:spPr>
          <a:xfrm xmlns:a="http://schemas.openxmlformats.org/drawingml/2006/main" flipV="1">
            <a:off x="1666875" y="2952750"/>
            <a:ext cx="0" cy="9525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86A8FF"/>
            </a:solidFill>
            <a:prstDash val="solid"/>
            <a:tailEnd type="arrow" w="sm" len="sm"/>
          </a:ln>
        </p:spPr>
      </p:cxn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A954B8E-D218-4C8D-B798-09877383E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1657350"/>
            <a:ext cx="1000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A4A6A1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A4A6A1"/>
                </a:solidFill>
                <a:latin typeface="Arial"/>
                <a:ea typeface="Arial"/>
                <a:cs typeface="Arial"/>
              </a:rPr>
              <a:t>HTTPS + JSON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AEF7877-7670-42B4-899E-63A99F262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1657350"/>
            <a:ext cx="10953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A4A6A1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A4A6A1"/>
                </a:solidFill>
                <a:latin typeface="Arial"/>
                <a:ea typeface="Arial"/>
                <a:cs typeface="Arial"/>
              </a:rPr>
              <a:t>REST / OpenAPI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DB0CE74-1B26-46C6-ADA7-AD56FFD93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476875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A4A6A1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A4A6A1"/>
                </a:solidFill>
                <a:latin typeface="Arial"/>
                <a:ea typeface="Arial"/>
                <a:cs typeface="Arial"/>
              </a:rPr>
              <a:t>WSS доставляет price.tick, balance.changed, duel.* и order.*. OpenAPI генерирует TypeScript и Java модели.</a:t>
            </a:r>
          </a:p>
        </p:txBody>
      </p:sp>
    </p:spTree>
    <p:extLst>
      <p:ext uri="{BB962C8B-B14F-4D97-AF65-F5344CB8AC3E}">
        <p14:creationId xmlns:p14="http://schemas.microsoft.com/office/powerpoint/2010/main" val="35905632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B0C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188EFF-6104-4E45-A1BA-C905DFAA9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33375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D9FF3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D9FF37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F5A568-DC1A-4CF3-9B5F-755ACC458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66700"/>
            <a:ext cx="10096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 i="0">
                <a:solidFill>
                  <a:srgbClr val="F1F0E9"/>
                </a:solidFill>
                <a:latin typeface="Arial"/>
                <a:ea typeface="Arial"/>
                <a:cs typeface="Arial"/>
              </a:defRPr>
            </a:pPr>
            <a:r>
              <a:rPr sz="2400" b="1" i="0">
                <a:solidFill>
                  <a:srgbClr val="F1F0E9"/>
                </a:solidFill>
                <a:latin typeface="Arial"/>
                <a:ea typeface="Arial"/>
                <a:cs typeface="Arial"/>
              </a:rPr>
              <a:t>Владение данными и защита игровой экономики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E909CAF-F556-4D7B-9CC1-DBA13E859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66775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3634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22560E-746F-4979-9CBB-0B418FC54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2476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1" i="0">
                <a:solidFill>
                  <a:srgbClr val="5B5E5A"/>
                </a:solidFill>
                <a:latin typeface="Arial"/>
                <a:ea typeface="Arial"/>
                <a:cs typeface="Arial"/>
              </a:defRPr>
            </a:pPr>
            <a:r>
              <a:rPr sz="750" b="1" i="0">
                <a:solidFill>
                  <a:srgbClr val="5B5E5A"/>
                </a:solidFill>
                <a:latin typeface="Arial"/>
                <a:ea typeface="Arial"/>
                <a:cs typeface="Arial"/>
              </a:rPr>
              <a:t>ДЯХАНEXCHANGE, G1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B6DBE9-2FFB-464D-AEB9-E89B700D9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7239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1" i="0">
                <a:solidFill>
                  <a:srgbClr val="5B5E5A"/>
                </a:solidFill>
                <a:latin typeface="Arial"/>
                <a:ea typeface="Arial"/>
                <a:cs typeface="Arial"/>
              </a:defRPr>
            </a:pPr>
            <a:r>
              <a:rPr sz="750" b="1" i="0">
                <a:solidFill>
                  <a:srgbClr val="5B5E5A"/>
                </a:solidFill>
                <a:latin typeface="Arial"/>
                <a:ea typeface="Arial"/>
                <a:cs typeface="Arial"/>
              </a:rPr>
              <a:t>17.09</a:t>
            </a:r>
          </a:p>
        </p:txBody>
      </p:sp>
      <p:graphicFrame>
        <p:nvGraphicFramePr>
          <p:cNvPr id="13" name=""/>
          <p:cNvGraphicFramePr/>
          <p:nvPr/>
        </p:nvGraphicFramePr>
        <p:xfrm>
          <a:off xmlns:a="http://schemas.openxmlformats.org/drawingml/2006/main" x="552450" y="1238250"/>
          <a:ext xmlns:a="http://schemas.openxmlformats.org/drawingml/2006/main" cx="11087100" cy="4000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381250"/>
                <a:gridCol w="3143250"/>
                <a:gridCol w="5562600"/>
              </a:tblGrid>
              <a:tr h="523875"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0B0C0D"/>
                          </a:solidFill>
                          <a:latin typeface="Arial"/>
                          <a:ea typeface="Arial"/>
                          <a:cs typeface="Arial"/>
                        </a:rPr>
                        <a:t>Данные</a:t>
                      </a:r>
                    </a:p>
                  </a:txBody>
                  <a:tcPr marL="95250" marR="95250" marT="66675" marB="66675" anchor="ctr">
                    <a:solidFill>
                      <a:srgbClr val="D9FF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0B0C0D"/>
                          </a:solidFill>
                          <a:latin typeface="Arial"/>
                          <a:ea typeface="Arial"/>
                          <a:cs typeface="Arial"/>
                        </a:rPr>
                        <a:t>Источник истины</a:t>
                      </a:r>
                    </a:p>
                  </a:txBody>
                  <a:tcPr marL="95250" marR="95250" marT="66675" marB="66675" anchor="ctr">
                    <a:solidFill>
                      <a:srgbClr val="D9FF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0B0C0D"/>
                          </a:solidFill>
                          <a:latin typeface="Arial"/>
                          <a:ea typeface="Arial"/>
                          <a:cs typeface="Arial"/>
                        </a:rPr>
                        <a:t>Ключевое правило</a:t>
                      </a:r>
                    </a:p>
                  </a:txBody>
                  <a:tcPr marL="95250" marR="95250" marT="66675" marB="66675" anchor="ctr">
                    <a:solidFill>
                      <a:srgbClr val="D9FF37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D9FF37"/>
                          </a:solidFill>
                          <a:latin typeface="Arial"/>
                          <a:ea typeface="Arial"/>
                          <a:cs typeface="Arial"/>
                        </a:rPr>
                        <a:t>Баланс и долг</a:t>
                      </a:r>
                    </a:p>
                  </a:txBody>
                  <a:tcPr marL="95250" marR="95250" marT="66675" marB="66675" anchor="ctr">
                    <a:solidFill>
                      <a:srgbClr val="12141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1F0E9"/>
                          </a:solidFill>
                          <a:latin typeface="Arial"/>
                          <a:ea typeface="Arial"/>
                          <a:cs typeface="Arial"/>
                        </a:rPr>
                        <a:t>Spring + PostgreSQL ledger</a:t>
                      </a:r>
                    </a:p>
                  </a:txBody>
                  <a:tcPr marL="95250" marR="95250" marT="66675" marB="66675" anchor="ctr">
                    <a:solidFill>
                      <a:srgbClr val="12141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1F0E9"/>
                          </a:solidFill>
                          <a:latin typeface="Arial"/>
                          <a:ea typeface="Arial"/>
                          <a:cs typeface="Arial"/>
                        </a:rPr>
                        <a:t>Append-only записи и idempotency key</a:t>
                      </a:r>
                    </a:p>
                  </a:txBody>
                  <a:tcPr marL="95250" marR="95250" marT="66675" marB="66675" anchor="ctr">
                    <a:solidFill>
                      <a:srgbClr val="121415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D9FF37"/>
                          </a:solidFill>
                          <a:latin typeface="Arial"/>
                          <a:ea typeface="Arial"/>
                          <a:cs typeface="Arial"/>
                        </a:rPr>
                        <a:t>P2P-ордер</a:t>
                      </a:r>
                    </a:p>
                  </a:txBody>
                  <a:tcPr marL="95250" marR="95250" marT="66675" marB="66675" anchor="ctr">
                    <a:solidFill>
                      <a:srgbClr val="12141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1F0E9"/>
                          </a:solidFill>
                          <a:latin typeface="Arial"/>
                          <a:ea typeface="Arial"/>
                          <a:cs typeface="Arial"/>
                        </a:rPr>
                        <a:t>Spring + PostgreSQL</a:t>
                      </a:r>
                    </a:p>
                  </a:txBody>
                  <a:tcPr marL="95250" marR="95250" marT="66675" marB="66675" anchor="ctr">
                    <a:solidFill>
                      <a:srgbClr val="12141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1F0E9"/>
                          </a:solidFill>
                          <a:latin typeface="Arial"/>
                          <a:ea typeface="Arial"/>
                          <a:cs typeface="Arial"/>
                        </a:rPr>
                        <a:t>Резерв до settlement защищает от double spend</a:t>
                      </a:r>
                    </a:p>
                  </a:txBody>
                  <a:tcPr marL="95250" marR="95250" marT="66675" marB="66675" anchor="ctr">
                    <a:solidFill>
                      <a:srgbClr val="121415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D9FF37"/>
                          </a:solidFill>
                          <a:latin typeface="Arial"/>
                          <a:ea typeface="Arial"/>
                          <a:cs typeface="Arial"/>
                        </a:rPr>
                        <a:t>Активная дуэль</a:t>
                      </a:r>
                    </a:p>
                  </a:txBody>
                  <a:tcPr marL="95250" marR="95250" marT="66675" marB="66675" anchor="ctr">
                    <a:solidFill>
                      <a:srgbClr val="12141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1F0E9"/>
                          </a:solidFill>
                          <a:latin typeface="Arial"/>
                          <a:ea typeface="Arial"/>
                          <a:cs typeface="Arial"/>
                        </a:rPr>
                        <a:t>Redis + snapshot</a:t>
                      </a:r>
                    </a:p>
                  </a:txBody>
                  <a:tcPr marL="95250" marR="95250" marT="66675" marB="66675" anchor="ctr">
                    <a:solidFill>
                      <a:srgbClr val="12141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1F0E9"/>
                          </a:solidFill>
                          <a:latin typeface="Arial"/>
                          <a:ea typeface="Arial"/>
                          <a:cs typeface="Arial"/>
                        </a:rPr>
                        <a:t>Server clock и reconnect по duelId</a:t>
                      </a:r>
                    </a:p>
                  </a:txBody>
                  <a:tcPr marL="95250" marR="95250" marT="66675" marB="66675" anchor="ctr">
                    <a:solidFill>
                      <a:srgbClr val="121415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D9FF37"/>
                          </a:solidFill>
                          <a:latin typeface="Arial"/>
                          <a:ea typeface="Arial"/>
                          <a:cs typeface="Arial"/>
                        </a:rPr>
                        <a:t>Изображения</a:t>
                      </a:r>
                    </a:p>
                  </a:txBody>
                  <a:tcPr marL="95250" marR="95250" marT="66675" marB="66675" anchor="ctr">
                    <a:solidFill>
                      <a:srgbClr val="12141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1F0E9"/>
                          </a:solidFill>
                          <a:latin typeface="Arial"/>
                          <a:ea typeface="Arial"/>
                          <a:cs typeface="Arial"/>
                        </a:rPr>
                        <a:t>Object storage</a:t>
                      </a:r>
                    </a:p>
                  </a:txBody>
                  <a:tcPr marL="95250" marR="95250" marT="66675" marB="66675" anchor="ctr">
                    <a:solidFill>
                      <a:srgbClr val="12141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1F0E9"/>
                          </a:solidFill>
                          <a:latin typeface="Arial"/>
                          <a:ea typeface="Arial"/>
                          <a:cs typeface="Arial"/>
                        </a:rPr>
                        <a:t>В БД только metadata и права доступа</a:t>
                      </a:r>
                    </a:p>
                  </a:txBody>
                  <a:tcPr marL="95250" marR="95250" marT="66675" marB="66675" anchor="ctr">
                    <a:solidFill>
                      <a:srgbClr val="121415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D9FF37"/>
                          </a:solidFill>
                          <a:latin typeface="Arial"/>
                          <a:ea typeface="Arial"/>
                          <a:cs typeface="Arial"/>
                        </a:rPr>
                        <a:t>Настройки UI</a:t>
                      </a:r>
                    </a:p>
                  </a:txBody>
                  <a:tcPr marL="95250" marR="95250" marT="66675" marB="66675" anchor="ctr">
                    <a:solidFill>
                      <a:srgbClr val="12141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1F0E9"/>
                          </a:solidFill>
                          <a:latin typeface="Arial"/>
                          <a:ea typeface="Arial"/>
                          <a:cs typeface="Arial"/>
                        </a:rPr>
                        <a:t>localStorage</a:t>
                      </a:r>
                    </a:p>
                  </a:txBody>
                  <a:tcPr marL="95250" marR="95250" marT="66675" marB="66675" anchor="ctr">
                    <a:solidFill>
                      <a:srgbClr val="12141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1F0E9"/>
                          </a:solidFill>
                          <a:latin typeface="Arial"/>
                          <a:ea typeface="Arial"/>
                          <a:cs typeface="Arial"/>
                        </a:rPr>
                        <a:t>Только звук и режим чата, без ценного состояния</a:t>
                      </a:r>
                    </a:p>
                  </a:txBody>
                  <a:tcPr marL="95250" marR="95250" marT="66675" marB="66675" anchor="ctr">
                    <a:solidFill>
                      <a:srgbClr val="121415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3DD7B1C-4DAD-4927-B511-2D3FA4896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61975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FF5148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FF5148"/>
                </a:solidFill>
                <a:latin typeface="Arial"/>
                <a:ea typeface="Arial"/>
                <a:cs typeface="Arial"/>
              </a:rPr>
              <a:t>В репозиторий не попадают: секреты, PII, production dumps, пользовательские загрузки и скрытые ответы игровых раундов.</a:t>
            </a:r>
          </a:p>
        </p:txBody>
      </p:sp>
    </p:spTree>
    <p:extLst>
      <p:ext uri="{BB962C8B-B14F-4D97-AF65-F5344CB8AC3E}">
        <p14:creationId xmlns:p14="http://schemas.microsoft.com/office/powerpoint/2010/main" val="86366454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1F0E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C33BC3E-440F-4635-BD0F-9A53C9885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33375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FF5148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FF5148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A63934A-7268-4579-838F-32CECA93B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66700"/>
            <a:ext cx="10096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 i="0">
                <a:solidFill>
                  <a:srgbClr val="0B0C0D"/>
                </a:solidFill>
                <a:latin typeface="Arial"/>
                <a:ea typeface="Arial"/>
                <a:cs typeface="Arial"/>
              </a:defRPr>
            </a:pPr>
            <a:r>
              <a:rPr sz="2400" b="1" i="0">
                <a:solidFill>
                  <a:srgbClr val="0B0C0D"/>
                </a:solidFill>
                <a:latin typeface="Arial"/>
                <a:ea typeface="Arial"/>
                <a:cs typeface="Arial"/>
              </a:rPr>
              <a:t>План работ на 18.09–01.10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99D4DE-3932-46CD-AA38-E17A088EB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66775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8C1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062BFE-03D9-4CC3-B24E-62DB25E97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2476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1" i="0">
                <a:solidFill>
                  <a:srgbClr val="787A76"/>
                </a:solidFill>
                <a:latin typeface="Arial"/>
                <a:ea typeface="Arial"/>
                <a:cs typeface="Arial"/>
              </a:defRPr>
            </a:pPr>
            <a:r>
              <a:rPr sz="750" b="1" i="0">
                <a:solidFill>
                  <a:srgbClr val="787A76"/>
                </a:solidFill>
                <a:latin typeface="Arial"/>
                <a:ea typeface="Arial"/>
                <a:cs typeface="Arial"/>
              </a:rPr>
              <a:t>ДЯХАНEXCHANGE, G1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274AD7-961A-4FEF-B1E5-21DA5E3F0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7239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1" i="0">
                <a:solidFill>
                  <a:srgbClr val="787A76"/>
                </a:solidFill>
                <a:latin typeface="Arial"/>
                <a:ea typeface="Arial"/>
                <a:cs typeface="Arial"/>
              </a:defRPr>
            </a:pPr>
            <a:r>
              <a:rPr sz="750" b="1" i="0">
                <a:solidFill>
                  <a:srgbClr val="787A76"/>
                </a:solidFill>
                <a:latin typeface="Arial"/>
                <a:ea typeface="Arial"/>
                <a:cs typeface="Arial"/>
              </a:rPr>
              <a:t>17.09</a:t>
            </a:r>
          </a:p>
        </p:txBody>
      </p:sp>
      <p:graphicFrame>
        <p:nvGraphicFramePr>
          <p:cNvPr id="13" name=""/>
          <p:cNvGraphicFramePr/>
          <p:nvPr/>
        </p:nvGraphicFramePr>
        <p:xfrm>
          <a:off xmlns:a="http://schemas.openxmlformats.org/drawingml/2006/main" x="476250" y="1200150"/>
          <a:ext xmlns:a="http://schemas.openxmlformats.org/drawingml/2006/main" cx="11239500" cy="44005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476375"/>
                <a:gridCol w="3048000"/>
                <a:gridCol w="2190750"/>
                <a:gridCol w="4524375"/>
              </a:tblGrid>
              <a:tr h="514350"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D9FF37"/>
                          </a:solidFill>
                          <a:latin typeface="Arial"/>
                          <a:ea typeface="Arial"/>
                          <a:cs typeface="Arial"/>
                        </a:rPr>
                        <a:t>Период</a:t>
                      </a:r>
                    </a:p>
                  </a:txBody>
                  <a:tcPr marL="85725" marR="85725" marT="57150" marB="57150" anchor="ctr">
                    <a:solidFill>
                      <a:srgbClr val="0B0C0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D9FF37"/>
                          </a:solidFill>
                          <a:latin typeface="Arial"/>
                          <a:ea typeface="Arial"/>
                          <a:cs typeface="Arial"/>
                        </a:rPr>
                        <a:t>Результат</a:t>
                      </a:r>
                    </a:p>
                  </a:txBody>
                  <a:tcPr marL="85725" marR="85725" marT="57150" marB="57150" anchor="ctr">
                    <a:solidFill>
                      <a:srgbClr val="0B0C0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D9FF37"/>
                          </a:solidFill>
                          <a:latin typeface="Arial"/>
                          <a:ea typeface="Arial"/>
                          <a:cs typeface="Arial"/>
                        </a:rPr>
                        <a:t>Owner</a:t>
                      </a:r>
                    </a:p>
                  </a:txBody>
                  <a:tcPr marL="85725" marR="85725" marT="57150" marB="57150" anchor="ctr">
                    <a:solidFill>
                      <a:srgbClr val="0B0C0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D9FF37"/>
                          </a:solidFill>
                          <a:latin typeface="Arial"/>
                          <a:ea typeface="Arial"/>
                          <a:cs typeface="Arial"/>
                        </a:rPr>
                        <a:t>Definition of Done</a:t>
                      </a:r>
                    </a:p>
                  </a:txBody>
                  <a:tcPr marL="85725" marR="85725" marT="57150" marB="57150" anchor="ctr">
                    <a:solidFill>
                      <a:srgbClr val="0B0C0D"/>
                    </a:solidFill>
                  </a:tcPr>
                </a:tc>
              </a:tr>
              <a:tr h="771525"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0B0C0D"/>
                          </a:solidFill>
                          <a:latin typeface="Arial"/>
                          <a:ea typeface="Arial"/>
                          <a:cs typeface="Arial"/>
                        </a:rPr>
                        <a:t>18–20.09</a:t>
                      </a:r>
                    </a:p>
                  </a:txBody>
                  <a:tcPr marL="85725" marR="85725" marT="57150" marB="57150" anchor="ctr">
                    <a:solidFill>
                      <a:srgbClr val="D9FF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0C0D"/>
                          </a:solidFill>
                          <a:latin typeface="Arial"/>
                          <a:ea typeface="Arial"/>
                          <a:cs typeface="Arial"/>
                        </a:rPr>
                        <a:t>Flow, ADR, React shell, repo rules</a:t>
                      </a:r>
                    </a:p>
                  </a:txBody>
                  <a:tcPr marL="85725" marR="85725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0C0D"/>
                          </a:solidFill>
                          <a:latin typeface="Arial"/>
                          <a:ea typeface="Arial"/>
                          <a:cs typeface="Arial"/>
                        </a:rPr>
                        <a:t>Ян: 02</a:t>
                      </a:r>
                    </a:p>
                    <a:p>
                      <a:r>
                        <a:rPr sz="1125">
                          <a:solidFill>
                            <a:srgbClr val="0B0C0D"/>
                          </a:solidFill>
                          <a:latin typeface="Arial"/>
                          <a:ea typeface="Arial"/>
                          <a:cs typeface="Arial"/>
                        </a:rPr>
                        <a:t>Даниил: 03, 05</a:t>
                      </a:r>
                    </a:p>
                    <a:p>
                      <a:r>
                        <a:rPr sz="1125">
                          <a:solidFill>
                            <a:srgbClr val="0B0C0D"/>
                          </a:solidFill>
                          <a:latin typeface="Arial"/>
                          <a:ea typeface="Arial"/>
                          <a:cs typeface="Arial"/>
                        </a:rPr>
                        <a:t>Матвей: 01, 04</a:t>
                      </a:r>
                    </a:p>
                  </a:txBody>
                  <a:tcPr marL="85725" marR="85725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0C0D"/>
                          </a:solidFill>
                          <a:latin typeface="Arial"/>
                          <a:ea typeface="Arial"/>
                          <a:cs typeface="Arial"/>
                        </a:rPr>
                        <a:t>Flow подтверждён; архитектурные границы записаны; PR rules включены</a:t>
                      </a:r>
                    </a:p>
                  </a:txBody>
                  <a:tcPr marL="85725" marR="85725" marT="57150" marB="57150" anchor="ctr">
                    <a:solidFill>
                      <a:srgbClr val="FFFFFF"/>
                    </a:solidFill>
                  </a:tcPr>
                </a:tc>
              </a:tr>
              <a:tr h="771525"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0B0C0D"/>
                          </a:solidFill>
                          <a:latin typeface="Arial"/>
                          <a:ea typeface="Arial"/>
                          <a:cs typeface="Arial"/>
                        </a:rPr>
                        <a:t>21–23.09</a:t>
                      </a:r>
                    </a:p>
                  </a:txBody>
                  <a:tcPr marL="85725" marR="85725" marT="57150" marB="57150" anchor="ctr">
                    <a:solidFill>
                      <a:srgbClr val="D9FF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0C0D"/>
                          </a:solidFill>
                          <a:latin typeface="Arial"/>
                          <a:ea typeface="Arial"/>
                          <a:cs typeface="Arial"/>
                        </a:rPr>
                        <a:t>Ledger, demo auth, Docker Compose</a:t>
                      </a:r>
                    </a:p>
                  </a:txBody>
                  <a:tcPr marL="85725" marR="85725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0C0D"/>
                          </a:solidFill>
                          <a:latin typeface="Arial"/>
                          <a:ea typeface="Arial"/>
                          <a:cs typeface="Arial"/>
                        </a:rPr>
                        <a:t>Ян: 06, 07</a:t>
                      </a:r>
                    </a:p>
                    <a:p>
                      <a:r>
                        <a:rPr sz="1125">
                          <a:solidFill>
                            <a:srgbClr val="0B0C0D"/>
                          </a:solidFill>
                          <a:latin typeface="Arial"/>
                          <a:ea typeface="Arial"/>
                          <a:cs typeface="Arial"/>
                        </a:rPr>
                        <a:t>Матвей: 08</a:t>
                      </a:r>
                    </a:p>
                  </a:txBody>
                  <a:tcPr marL="85725" marR="85725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0C0D"/>
                          </a:solidFill>
                          <a:latin typeface="Arial"/>
                          <a:ea typeface="Arial"/>
                          <a:cs typeface="Arial"/>
                        </a:rPr>
                        <a:t>Баланс идемпотентен; сервисы стартуют через make run на arm64</a:t>
                      </a:r>
                    </a:p>
                  </a:txBody>
                  <a:tcPr marL="85725" marR="85725" marT="57150" marB="57150" anchor="ctr">
                    <a:solidFill>
                      <a:srgbClr val="FFFFFF"/>
                    </a:solidFill>
                  </a:tcPr>
                </a:tc>
              </a:tr>
              <a:tr h="771525"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0B0C0D"/>
                          </a:solidFill>
                          <a:latin typeface="Arial"/>
                          <a:ea typeface="Arial"/>
                          <a:cs typeface="Arial"/>
                        </a:rPr>
                        <a:t>24–26.09</a:t>
                      </a:r>
                    </a:p>
                  </a:txBody>
                  <a:tcPr marL="85725" marR="85725" marT="57150" marB="57150" anchor="ctr">
                    <a:solidFill>
                      <a:srgbClr val="D9FF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0C0D"/>
                          </a:solidFill>
                          <a:latin typeface="Arial"/>
                          <a:ea typeface="Arial"/>
                          <a:cs typeface="Arial"/>
                        </a:rPr>
                        <a:t>Слоп-угадайка и Canvas-график</a:t>
                      </a:r>
                    </a:p>
                  </a:txBody>
                  <a:tcPr marL="85725" marR="85725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0C0D"/>
                          </a:solidFill>
                          <a:latin typeface="Arial"/>
                          <a:ea typeface="Arial"/>
                          <a:cs typeface="Arial"/>
                        </a:rPr>
                        <a:t>Ян: 09</a:t>
                      </a:r>
                    </a:p>
                    <a:p>
                      <a:r>
                        <a:rPr sz="1125">
                          <a:solidFill>
                            <a:srgbClr val="0B0C0D"/>
                          </a:solidFill>
                          <a:latin typeface="Arial"/>
                          <a:ea typeface="Arial"/>
                          <a:cs typeface="Arial"/>
                        </a:rPr>
                        <a:t>Даниил: 10, 11</a:t>
                      </a:r>
                    </a:p>
                  </a:txBody>
                  <a:tcPr marL="85725" marR="85725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0C0D"/>
                          </a:solidFill>
                          <a:latin typeface="Arial"/>
                          <a:ea typeface="Arial"/>
                          <a:cs typeface="Arial"/>
                        </a:rPr>
                        <a:t>Скрытый ответ остаётся на сервере; UI покрывает loading/error/retry</a:t>
                      </a:r>
                    </a:p>
                  </a:txBody>
                  <a:tcPr marL="85725" marR="85725" marT="57150" marB="57150" anchor="ctr">
                    <a:solidFill>
                      <a:srgbClr val="FFFFFF"/>
                    </a:solidFill>
                  </a:tcPr>
                </a:tc>
              </a:tr>
              <a:tr h="771525"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0B0C0D"/>
                          </a:solidFill>
                          <a:latin typeface="Arial"/>
                          <a:ea typeface="Arial"/>
                          <a:cs typeface="Arial"/>
                        </a:rPr>
                        <a:t>27–29.09</a:t>
                      </a:r>
                    </a:p>
                  </a:txBody>
                  <a:tcPr marL="85725" marR="85725" marT="57150" marB="57150" anchor="ctr">
                    <a:solidFill>
                      <a:srgbClr val="D9FF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0C0D"/>
                          </a:solidFill>
                          <a:latin typeface="Arial"/>
                          <a:ea typeface="Arial"/>
                          <a:cs typeface="Arial"/>
                        </a:rPr>
                        <a:t>Sentry, аналитика, Playwright</a:t>
                      </a:r>
                    </a:p>
                  </a:txBody>
                  <a:tcPr marL="85725" marR="85725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0C0D"/>
                          </a:solidFill>
                          <a:latin typeface="Arial"/>
                          <a:ea typeface="Arial"/>
                          <a:cs typeface="Arial"/>
                        </a:rPr>
                        <a:t>Даниил: 13</a:t>
                      </a:r>
                    </a:p>
                    <a:p>
                      <a:r>
                        <a:rPr sz="1125">
                          <a:solidFill>
                            <a:srgbClr val="0B0C0D"/>
                          </a:solidFill>
                          <a:latin typeface="Arial"/>
                          <a:ea typeface="Arial"/>
                          <a:cs typeface="Arial"/>
                        </a:rPr>
                        <a:t>Матвей: 12, 14</a:t>
                      </a:r>
                    </a:p>
                  </a:txBody>
                  <a:tcPr marL="85725" marR="85725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0C0D"/>
                          </a:solidFill>
                          <a:latin typeface="Arial"/>
                          <a:ea typeface="Arial"/>
                          <a:cs typeface="Arial"/>
                        </a:rPr>
                        <a:t>Нет PII; smoke flow стабилен; coverage threshold 80%</a:t>
                      </a:r>
                    </a:p>
                  </a:txBody>
                  <a:tcPr marL="85725" marR="85725" marT="57150" marB="57150" anchor="ctr">
                    <a:solidFill>
                      <a:srgbClr val="FFFFFF"/>
                    </a:solidFill>
                  </a:tcPr>
                </a:tc>
              </a:tr>
              <a:tr h="771525"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0B0C0D"/>
                          </a:solidFill>
                          <a:latin typeface="Arial"/>
                          <a:ea typeface="Arial"/>
                          <a:cs typeface="Arial"/>
                        </a:rPr>
                        <a:t>30.09–01.10</a:t>
                      </a:r>
                    </a:p>
                  </a:txBody>
                  <a:tcPr marL="85725" marR="85725" marT="57150" marB="57150" anchor="ctr">
                    <a:solidFill>
                      <a:srgbClr val="D9FF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0C0D"/>
                          </a:solidFill>
                          <a:latin typeface="Arial"/>
                          <a:ea typeface="Arial"/>
                          <a:cs typeface="Arial"/>
                        </a:rPr>
                        <a:t>Realtime spike и G2 review</a:t>
                      </a:r>
                    </a:p>
                  </a:txBody>
                  <a:tcPr marL="85725" marR="85725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0C0D"/>
                          </a:solidFill>
                          <a:latin typeface="Arial"/>
                          <a:ea typeface="Arial"/>
                          <a:cs typeface="Arial"/>
                        </a:rPr>
                        <a:t>Ян: 15</a:t>
                      </a:r>
                    </a:p>
                    <a:p>
                      <a:r>
                        <a:rPr sz="1125">
                          <a:solidFill>
                            <a:srgbClr val="0B0C0D"/>
                          </a:solidFill>
                          <a:latin typeface="Arial"/>
                          <a:ea typeface="Arial"/>
                          <a:cs typeface="Arial"/>
                        </a:rPr>
                        <a:t>Все: 16</a:t>
                      </a:r>
                    </a:p>
                  </a:txBody>
                  <a:tcPr marL="85725" marR="85725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0C0D"/>
                          </a:solidFill>
                          <a:latin typeface="Arial"/>
                          <a:ea typeface="Arial"/>
                          <a:cs typeface="Arial"/>
                        </a:rPr>
                        <a:t>Демо двух вкладок; макеты и архитектура готовы к показу</a:t>
                      </a:r>
                    </a:p>
                  </a:txBody>
                  <a:tcPr marL="85725" marR="85725" marT="57150" marB="571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3973AA-9407-48EE-987D-89703EB68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86450"/>
            <a:ext cx="1066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FF5148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FF5148"/>
                </a:solidFill>
                <a:latin typeface="Arial"/>
                <a:ea typeface="Arial"/>
                <a:cs typeface="Arial"/>
              </a:rPr>
              <a:t>Нагрузка: Ян: 5 задач, Даниил: 5 задач, Матвей: 5 задач. DX-16 выполняет вся команда.</a:t>
            </a:r>
          </a:p>
        </p:txBody>
      </p:sp>
    </p:spTree>
    <p:extLst>
      <p:ext uri="{BB962C8B-B14F-4D97-AF65-F5344CB8AC3E}">
        <p14:creationId xmlns:p14="http://schemas.microsoft.com/office/powerpoint/2010/main" val="165659098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B0C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29C66D7-06CB-4699-9D74-504848892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33375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D9FF3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D9FF37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114571-ACCC-408B-90D2-E60A891F2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66700"/>
            <a:ext cx="10096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 i="0">
                <a:solidFill>
                  <a:srgbClr val="F1F0E9"/>
                </a:solidFill>
                <a:latin typeface="Arial"/>
                <a:ea typeface="Arial"/>
                <a:cs typeface="Arial"/>
              </a:defRPr>
            </a:pPr>
            <a:r>
              <a:rPr sz="2400" b="1" i="0">
                <a:solidFill>
                  <a:srgbClr val="F1F0E9"/>
                </a:solidFill>
                <a:latin typeface="Arial"/>
                <a:ea typeface="Arial"/>
                <a:cs typeface="Arial"/>
              </a:rPr>
              <a:t>Команда, процесс разработки и репозиторий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21E4678-71A7-466D-A382-7AE2A5C96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66775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3634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E2F381-847B-4919-AA83-36ED195B8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2476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1" i="0">
                <a:solidFill>
                  <a:srgbClr val="5B5E5A"/>
                </a:solidFill>
                <a:latin typeface="Arial"/>
                <a:ea typeface="Arial"/>
                <a:cs typeface="Arial"/>
              </a:defRPr>
            </a:pPr>
            <a:r>
              <a:rPr sz="750" b="1" i="0">
                <a:solidFill>
                  <a:srgbClr val="5B5E5A"/>
                </a:solidFill>
                <a:latin typeface="Arial"/>
                <a:ea typeface="Arial"/>
                <a:cs typeface="Arial"/>
              </a:rPr>
              <a:t>ДЯХАНEXCHANGE, G1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42EA57-2E14-48EE-BC15-5FB5CBE8E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7239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1" i="0">
                <a:solidFill>
                  <a:srgbClr val="5B5E5A"/>
                </a:solidFill>
                <a:latin typeface="Arial"/>
                <a:ea typeface="Arial"/>
                <a:cs typeface="Arial"/>
              </a:defRPr>
            </a:pPr>
            <a:r>
              <a:rPr sz="750" b="1" i="0">
                <a:solidFill>
                  <a:srgbClr val="5B5E5A"/>
                </a:solidFill>
                <a:latin typeface="Arial"/>
                <a:ea typeface="Arial"/>
                <a:cs typeface="Arial"/>
              </a:rPr>
              <a:t>17.09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1DA1A6E-14EE-4FBB-9161-33EC1B3FB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2001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D9FF37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D9FF37"/>
                </a:solidFill>
                <a:latin typeface="Arial"/>
                <a:ea typeface="Arial"/>
                <a:cs typeface="Arial"/>
              </a:rPr>
              <a:t>ОДИН MONOREPO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183738A-6051-4BBD-BBAE-2E6FEA49A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695450"/>
            <a:ext cx="2000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F1F0E9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F1F0E9"/>
                </a:solidFill>
                <a:latin typeface="Arial"/>
                <a:ea typeface="Arial"/>
                <a:cs typeface="Arial"/>
              </a:rPr>
              <a:t>apps/web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1186689-644E-4010-8E48-A613545F3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695450"/>
            <a:ext cx="27146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A4A6A1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A4A6A1"/>
                </a:solidFill>
                <a:latin typeface="Arial"/>
                <a:ea typeface="Arial"/>
                <a:cs typeface="Arial"/>
              </a:rPr>
              <a:t>React + TypeScript + Vite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166527-C0C4-4AE5-A369-4A5437519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057400"/>
            <a:ext cx="4667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3634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599AA06-93DB-49C0-BF93-B007789C8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333625"/>
            <a:ext cx="2000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F1F0E9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F1F0E9"/>
                </a:solidFill>
                <a:latin typeface="Arial"/>
                <a:ea typeface="Arial"/>
                <a:cs typeface="Arial"/>
              </a:rPr>
              <a:t>apps/gateway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0B7577C-0884-49DB-A06F-9C7A153B9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333625"/>
            <a:ext cx="27146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A4A6A1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A4A6A1"/>
                </a:solidFill>
                <a:latin typeface="Arial"/>
                <a:ea typeface="Arial"/>
                <a:cs typeface="Arial"/>
              </a:rPr>
              <a:t>NestJS BFF и WebSocket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923AB0C-726D-4D27-A179-143C517B9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695575"/>
            <a:ext cx="4667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3634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8FC547B-9E83-4586-A062-9D9B62E74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971800"/>
            <a:ext cx="2000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F1F0E9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F1F0E9"/>
                </a:solidFill>
                <a:latin typeface="Arial"/>
                <a:ea typeface="Arial"/>
                <a:cs typeface="Arial"/>
              </a:rPr>
              <a:t>services/core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055B20A-AB43-4D20-AE3A-A9582BC7C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971800"/>
            <a:ext cx="27146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A4A6A1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A4A6A1"/>
                </a:solidFill>
                <a:latin typeface="Arial"/>
                <a:ea typeface="Arial"/>
                <a:cs typeface="Arial"/>
              </a:rPr>
              <a:t>Java + Spring Boot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5326A87-8AFC-4667-A52E-BCEBDA68F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333750"/>
            <a:ext cx="4667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3634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F09972E-D81F-4AB7-912D-36AA5EFB3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609975"/>
            <a:ext cx="2000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F1F0E9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F1F0E9"/>
                </a:solidFill>
                <a:latin typeface="Arial"/>
                <a:ea typeface="Arial"/>
                <a:cs typeface="Arial"/>
              </a:rPr>
              <a:t>packages/contracts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8D0E227-5422-42A0-99B1-2BBBB469E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609975"/>
            <a:ext cx="27146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A4A6A1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A4A6A1"/>
                </a:solidFill>
                <a:latin typeface="Arial"/>
                <a:ea typeface="Arial"/>
                <a:cs typeface="Arial"/>
              </a:rPr>
              <a:t>OpenAPI и события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703AB6B-16FA-4BF3-9D9A-36CC0E4B8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971925"/>
            <a:ext cx="4667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3634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5DB1248-BF3D-41BD-B29F-51B508D09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248150"/>
            <a:ext cx="2000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F1F0E9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F1F0E9"/>
                </a:solidFill>
                <a:latin typeface="Arial"/>
                <a:ea typeface="Arial"/>
                <a:cs typeface="Arial"/>
              </a:rPr>
              <a:t>infra + docs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F8C3060-38F8-4CF5-9BA2-CE8E8436E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248150"/>
            <a:ext cx="27146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A4A6A1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A4A6A1"/>
                </a:solidFill>
                <a:latin typeface="Arial"/>
                <a:ea typeface="Arial"/>
                <a:cs typeface="Arial"/>
              </a:rPr>
              <a:t>Docker, CI, ADR, flow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2E28302-F38A-42FF-8810-3E552C855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610100"/>
            <a:ext cx="4667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3634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11D23D8-2ECD-4668-BE03-FEBDB8788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12001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FF5148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FF5148"/>
                </a:solidFill>
                <a:latin typeface="Arial"/>
                <a:ea typeface="Arial"/>
                <a:cs typeface="Arial"/>
              </a:rPr>
              <a:t>GITHUB FLOW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33315F4-933E-4628-83C2-D835743C7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1695450"/>
            <a:ext cx="47625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21415"/>
          </a:solidFill>
          <a:ln xmlns:a="http://schemas.openxmlformats.org/drawingml/2006/main" w="9525">
            <a:solidFill>
              <a:srgbClr val="F1F0E9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1F0E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1F0E9"/>
                </a:solidFill>
                <a:latin typeface="Arial"/>
                <a:ea typeface="Arial"/>
                <a:cs typeface="Arial"/>
              </a:rPr>
              <a:t>1. Issue с DoD и owner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87860DA-D146-4BBC-807F-6C5285ABA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419350"/>
            <a:ext cx="47625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21415"/>
          </a:solidFill>
          <a:ln xmlns:a="http://schemas.openxmlformats.org/drawingml/2006/main" w="9525">
            <a:solidFill>
              <a:srgbClr val="F1F0E9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1F0E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1F0E9"/>
                </a:solidFill>
                <a:latin typeface="Arial"/>
                <a:ea typeface="Arial"/>
                <a:cs typeface="Arial"/>
              </a:rPr>
              <a:t>2. Ветка feat/DX-123-name</a:t>
            </a:r>
          </a:p>
        </p:txBody>
      </p:sp>
      <p:cxnSp>
        <p:nvCxnSpPr>
          <p:cNvPr id="64" name=""/>
          <p:cNvCxnSpPr>
            <a:stCxn xmlns:a="http://schemas.openxmlformats.org/drawingml/2006/main" id="23" idx="2"/>
            <a:endCxn xmlns:a="http://schemas.openxmlformats.org/drawingml/2006/main" id="24" idx="0"/>
          </p:cNvCxnSpPr>
          <p:nvPr/>
        </p:nvCxnSpPr>
        <p:spPr>
          <a:xfrm xmlns:a="http://schemas.openxmlformats.org/drawingml/2006/main">
            <a:off x="8620125" y="2190750"/>
            <a:ext cx="0" cy="2286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B5E5A"/>
            </a:solidFill>
            <a:prstDash val="solid"/>
            <a:tailEnd type="arrow" w="sm" len="sm"/>
          </a:ln>
        </p:spPr>
      </p:cxn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9FE3ACA-2A20-43F5-B0ED-075913A49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3143250"/>
            <a:ext cx="47625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21415"/>
          </a:solidFill>
          <a:ln xmlns:a="http://schemas.openxmlformats.org/drawingml/2006/main" w="9525">
            <a:solidFill>
              <a:srgbClr val="F1F0E9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1F0E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1F0E9"/>
                </a:solidFill>
                <a:latin typeface="Arial"/>
                <a:ea typeface="Arial"/>
                <a:cs typeface="Arial"/>
              </a:rPr>
              <a:t>3. PR со способом проверки</a:t>
            </a:r>
          </a:p>
        </p:txBody>
      </p:sp>
      <p:cxnSp>
        <p:nvCxnSpPr>
          <p:cNvPr id="66" name=""/>
          <p:cNvCxnSpPr>
            <a:stCxn xmlns:a="http://schemas.openxmlformats.org/drawingml/2006/main" id="24" idx="2"/>
            <a:endCxn xmlns:a="http://schemas.openxmlformats.org/drawingml/2006/main" id="26" idx="0"/>
          </p:cNvCxnSpPr>
          <p:nvPr/>
        </p:nvCxnSpPr>
        <p:spPr>
          <a:xfrm xmlns:a="http://schemas.openxmlformats.org/drawingml/2006/main">
            <a:off x="8620125" y="2914650"/>
            <a:ext cx="0" cy="2286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B5E5A"/>
            </a:solidFill>
            <a:prstDash val="solid"/>
            <a:tailEnd type="arrow" w="sm" len="sm"/>
          </a:ln>
        </p:spPr>
      </p:cxn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A6C80F0-0682-47ED-82C6-65462236E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3867150"/>
            <a:ext cx="47625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21415"/>
          </a:solidFill>
          <a:ln xmlns:a="http://schemas.openxmlformats.org/drawingml/2006/main" w="9525">
            <a:solidFill>
              <a:srgbClr val="FF5148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514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5148"/>
                </a:solidFill>
                <a:latin typeface="Arial"/>
                <a:ea typeface="Arial"/>
                <a:cs typeface="Arial"/>
              </a:rPr>
              <a:t>4. Review + CI gates</a:t>
            </a:r>
          </a:p>
        </p:txBody>
      </p:sp>
      <p:cxnSp>
        <p:nvCxnSpPr>
          <p:cNvPr id="68" name=""/>
          <p:cNvCxnSpPr>
            <a:stCxn xmlns:a="http://schemas.openxmlformats.org/drawingml/2006/main" id="26" idx="2"/>
            <a:endCxn xmlns:a="http://schemas.openxmlformats.org/drawingml/2006/main" id="28" idx="0"/>
          </p:cNvCxnSpPr>
          <p:nvPr/>
        </p:nvCxnSpPr>
        <p:spPr>
          <a:xfrm xmlns:a="http://schemas.openxmlformats.org/drawingml/2006/main">
            <a:off x="8620125" y="3638550"/>
            <a:ext cx="0" cy="2286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B5E5A"/>
            </a:solidFill>
            <a:prstDash val="solid"/>
            <a:tailEnd type="arrow" w="sm" len="sm"/>
          </a:ln>
        </p:spPr>
      </p:cxn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6E507B6-2633-465B-8DB2-012312A48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4591050"/>
            <a:ext cx="47625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21415"/>
          </a:solidFill>
          <a:ln xmlns:a="http://schemas.openxmlformats.org/drawingml/2006/main" w="9525">
            <a:solidFill>
              <a:srgbClr val="F1F0E9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1F0E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1F0E9"/>
                </a:solidFill>
                <a:latin typeface="Arial"/>
                <a:ea typeface="Arial"/>
                <a:cs typeface="Arial"/>
              </a:rPr>
              <a:t>5. Squash merge в main</a:t>
            </a:r>
          </a:p>
        </p:txBody>
      </p:sp>
      <p:cxnSp>
        <p:nvCxnSpPr>
          <p:cNvPr id="70" name=""/>
          <p:cNvCxnSpPr>
            <a:stCxn xmlns:a="http://schemas.openxmlformats.org/drawingml/2006/main" id="28" idx="2"/>
            <a:endCxn xmlns:a="http://schemas.openxmlformats.org/drawingml/2006/main" id="30" idx="0"/>
          </p:cNvCxnSpPr>
          <p:nvPr/>
        </p:nvCxnSpPr>
        <p:spPr>
          <a:xfrm xmlns:a="http://schemas.openxmlformats.org/drawingml/2006/main">
            <a:off x="8620125" y="4362450"/>
            <a:ext cx="0" cy="2286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B5E5A"/>
            </a:solidFill>
            <a:prstDash val="solid"/>
            <a:tailEnd type="arrow" w="sm" len="sm"/>
          </a:ln>
        </p:spPr>
      </p:cxn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4E7E0E1-88BB-46C3-B2AA-5FA210097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3721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FF5148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5148"/>
                </a:solidFill>
                <a:latin typeface="Arial"/>
                <a:ea typeface="Arial"/>
                <a:cs typeface="Arial"/>
              </a:rPr>
              <a:t>НЕ КОММИТИМ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385F94B-4CA1-41F6-A53C-A5F728404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5334000"/>
            <a:ext cx="876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A4A6A1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A4A6A1"/>
                </a:solidFill>
                <a:latin typeface="Arial"/>
                <a:ea typeface="Arial"/>
                <a:cs typeface="Arial"/>
              </a:rPr>
              <a:t>.env и ключи, PII и dumps, uploads, build output, скрытые игровые ответы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3A8C002-D638-458E-B475-8E6CE2375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810250"/>
            <a:ext cx="857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D9FF37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D9FF37"/>
                </a:solidFill>
                <a:latin typeface="Arial"/>
                <a:ea typeface="Arial"/>
                <a:cs typeface="Arial"/>
              </a:rPr>
              <a:t>ЯН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A5AE3D9-D3F9-442D-B478-60AEFD327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5810250"/>
            <a:ext cx="2381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F1F0E9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F1F0E9"/>
                </a:solidFill>
                <a:latin typeface="Arial"/>
                <a:ea typeface="Arial"/>
                <a:cs typeface="Arial"/>
              </a:rPr>
              <a:t>Backend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426F2D8-EBAB-4FCF-859B-1CAA680FB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5810250"/>
            <a:ext cx="95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FF5148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FF5148"/>
                </a:solidFill>
                <a:latin typeface="Arial"/>
                <a:ea typeface="Arial"/>
                <a:cs typeface="Arial"/>
              </a:rPr>
              <a:t>ДАНИИЛ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A8675AB-E887-4B9C-AF86-728F3BC2D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5810250"/>
            <a:ext cx="2381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F1F0E9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F1F0E9"/>
                </a:solidFill>
                <a:latin typeface="Arial"/>
                <a:ea typeface="Arial"/>
                <a:cs typeface="Arial"/>
              </a:rPr>
              <a:t>QA + Frontend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D61F8B2-7E27-43C1-9069-79500E673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5810250"/>
            <a:ext cx="95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86A8FF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86A8FF"/>
                </a:solidFill>
                <a:latin typeface="Arial"/>
                <a:ea typeface="Arial"/>
                <a:cs typeface="Arial"/>
              </a:rPr>
              <a:t>МАТВЕЙ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BC305F4-C908-48C1-AE32-035749B35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5810250"/>
            <a:ext cx="27146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F1F0E9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F1F0E9"/>
                </a:solidFill>
                <a:latin typeface="Arial"/>
                <a:ea typeface="Arial"/>
                <a:cs typeface="Arial"/>
              </a:rPr>
              <a:t>Team Lead</a:t>
            </a:r>
          </a:p>
        </p:txBody>
      </p:sp>
    </p:spTree>
    <p:extLst>
      <p:ext uri="{BB962C8B-B14F-4D97-AF65-F5344CB8AC3E}">
        <p14:creationId xmlns:p14="http://schemas.microsoft.com/office/powerpoint/2010/main" val="135818240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1F0E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20ADDB-D721-4BFA-B665-B2F825452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33375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FF5148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FF5148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95D46B-8385-469C-9FE4-AE4BD968E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66700"/>
            <a:ext cx="10096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 i="0">
                <a:solidFill>
                  <a:srgbClr val="0B0C0D"/>
                </a:solidFill>
                <a:latin typeface="Arial"/>
                <a:ea typeface="Arial"/>
                <a:cs typeface="Arial"/>
              </a:defRPr>
            </a:pPr>
            <a:r>
              <a:rPr sz="2400" b="1" i="0">
                <a:solidFill>
                  <a:srgbClr val="0B0C0D"/>
                </a:solidFill>
                <a:latin typeface="Arial"/>
                <a:ea typeface="Arial"/>
                <a:cs typeface="Arial"/>
              </a:rPr>
              <a:t>Аудит рекомендаций к подготовке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6C2357C-8D6F-462F-8169-6DA6D897C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66775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8C1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1BB970-FDC3-43D3-B1C4-184457669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2476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1" i="0">
                <a:solidFill>
                  <a:srgbClr val="787A76"/>
                </a:solidFill>
                <a:latin typeface="Arial"/>
                <a:ea typeface="Arial"/>
                <a:cs typeface="Arial"/>
              </a:defRPr>
            </a:pPr>
            <a:r>
              <a:rPr sz="750" b="1" i="0">
                <a:solidFill>
                  <a:srgbClr val="787A76"/>
                </a:solidFill>
                <a:latin typeface="Arial"/>
                <a:ea typeface="Arial"/>
                <a:cs typeface="Arial"/>
              </a:rPr>
              <a:t>ДЯХАНEXCHANGE, G1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415C57-4B3E-4FA5-847E-262A2C6E2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7239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1" i="0">
                <a:solidFill>
                  <a:srgbClr val="787A76"/>
                </a:solidFill>
                <a:latin typeface="Arial"/>
                <a:ea typeface="Arial"/>
                <a:cs typeface="Arial"/>
              </a:defRPr>
            </a:pPr>
            <a:r>
              <a:rPr sz="750" b="1" i="0">
                <a:solidFill>
                  <a:srgbClr val="787A76"/>
                </a:solidFill>
                <a:latin typeface="Arial"/>
                <a:ea typeface="Arial"/>
                <a:cs typeface="Arial"/>
              </a:rPr>
              <a:t>17.09</a:t>
            </a:r>
          </a:p>
        </p:txBody>
      </p:sp>
      <p:graphicFrame>
        <p:nvGraphicFramePr>
          <p:cNvPr id="13" name=""/>
          <p:cNvGraphicFramePr/>
          <p:nvPr/>
        </p:nvGraphicFramePr>
        <p:xfrm>
          <a:off xmlns:a="http://schemas.openxmlformats.org/drawingml/2006/main" x="457200" y="1162050"/>
          <a:ext xmlns:a="http://schemas.openxmlformats.org/drawingml/2006/main" cx="11277600" cy="45243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429000"/>
                <a:gridCol w="2428875"/>
                <a:gridCol w="5419725"/>
              </a:tblGrid>
              <a:tr h="495300"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D9FF37"/>
                          </a:solidFill>
                          <a:latin typeface="Arial"/>
                          <a:ea typeface="Arial"/>
                          <a:cs typeface="Arial"/>
                        </a:rPr>
                        <a:t>Пункт</a:t>
                      </a:r>
                    </a:p>
                  </a:txBody>
                  <a:tcPr marL="95250" marR="95250" marT="47625" marB="47625" anchor="ctr">
                    <a:solidFill>
                      <a:srgbClr val="0B0C0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D9FF37"/>
                          </a:solidFill>
                          <a:latin typeface="Arial"/>
                          <a:ea typeface="Arial"/>
                          <a:cs typeface="Arial"/>
                        </a:rPr>
                        <a:t>Статус</a:t>
                      </a:r>
                    </a:p>
                  </a:txBody>
                  <a:tcPr marL="95250" marR="95250" marT="47625" marB="47625" anchor="ctr">
                    <a:solidFill>
                      <a:srgbClr val="0B0C0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D9FF37"/>
                          </a:solidFill>
                          <a:latin typeface="Arial"/>
                          <a:ea typeface="Arial"/>
                          <a:cs typeface="Arial"/>
                        </a:rPr>
                        <a:t>Что осталось</a:t>
                      </a:r>
                    </a:p>
                  </a:txBody>
                  <a:tcPr marL="95250" marR="95250" marT="47625" marB="47625" anchor="ctr">
                    <a:solidFill>
                      <a:srgbClr val="0B0C0D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0C0D"/>
                          </a:solidFill>
                          <a:latin typeface="Arial"/>
                          <a:ea typeface="Arial"/>
                          <a:cs typeface="Arial"/>
                        </a:rPr>
                        <a:t>Образ проекта, роли, авторизация</a:t>
                      </a:r>
                    </a:p>
                  </a:txBody>
                  <a:tcPr marL="95250" marR="95250" marT="47625" marB="476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95C2A"/>
                          </a:solidFill>
                          <a:latin typeface="Arial"/>
                          <a:ea typeface="Arial"/>
                          <a:cs typeface="Arial"/>
                        </a:rPr>
                        <a:t>ГОТОВО</a:t>
                      </a:r>
                    </a:p>
                  </a:txBody>
                  <a:tcPr marL="95250" marR="95250" marT="47625" marB="47625" anchor="ctr">
                    <a:solidFill>
                      <a:srgbClr val="D8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0C0D"/>
                          </a:solidFill>
                          <a:latin typeface="Arial"/>
                          <a:ea typeface="Arial"/>
                          <a:cs typeface="Arial"/>
                        </a:rPr>
                        <a:t>Показано в презентации</a:t>
                      </a:r>
                    </a:p>
                  </a:txBody>
                  <a:tcPr marL="95250" marR="95250" marT="47625" marB="47625" anchor="ctr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0C0D"/>
                          </a:solidFill>
                          <a:latin typeface="Arial"/>
                          <a:ea typeface="Arial"/>
                          <a:cs typeface="Arial"/>
                        </a:rPr>
                        <a:t>Пошаговый user flow</a:t>
                      </a:r>
                    </a:p>
                  </a:txBody>
                  <a:tcPr marL="95250" marR="95250" marT="47625" marB="476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7A4E00"/>
                          </a:solidFill>
                          <a:latin typeface="Arial"/>
                          <a:ea typeface="Arial"/>
                          <a:cs typeface="Arial"/>
                        </a:rPr>
                        <a:t>ПОДГОТОВЛЕНО</a:t>
                      </a:r>
                    </a:p>
                  </a:txBody>
                  <a:tcPr marL="95250" marR="95250" marT="47625" marB="47625" anchor="ctr">
                    <a:solidFill>
                      <a:srgbClr val="FFF1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0C0D"/>
                          </a:solidFill>
                          <a:latin typeface="Arial"/>
                          <a:ea typeface="Arial"/>
                          <a:cs typeface="Arial"/>
                        </a:rPr>
                        <a:t>Командный walkthrough happy path и ошибок</a:t>
                      </a:r>
                    </a:p>
                  </a:txBody>
                  <a:tcPr marL="95250" marR="95250" marT="47625" marB="47625" anchor="ctr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0C0D"/>
                          </a:solidFill>
                          <a:latin typeface="Arial"/>
                          <a:ea typeface="Arial"/>
                          <a:cs typeface="Arial"/>
                        </a:rPr>
                        <a:t>Поток данных и модули</a:t>
                      </a:r>
                    </a:p>
                  </a:txBody>
                  <a:tcPr marL="95250" marR="95250" marT="47625" marB="476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7A4E00"/>
                          </a:solidFill>
                          <a:latin typeface="Arial"/>
                          <a:ea typeface="Arial"/>
                          <a:cs typeface="Arial"/>
                        </a:rPr>
                        <a:t>ПОДГОТОВЛЕНО</a:t>
                      </a:r>
                    </a:p>
                  </a:txBody>
                  <a:tcPr marL="95250" marR="95250" marT="47625" marB="47625" anchor="ctr">
                    <a:solidFill>
                      <a:srgbClr val="FFF1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0C0D"/>
                          </a:solidFill>
                          <a:latin typeface="Arial"/>
                          <a:ea typeface="Arial"/>
                          <a:cs typeface="Arial"/>
                        </a:rPr>
                        <a:t>Подтвердить границы NestJS и Spring</a:t>
                      </a:r>
                    </a:p>
                  </a:txBody>
                  <a:tcPr marL="95250" marR="95250" marT="47625" marB="47625" anchor="ctr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0C0D"/>
                          </a:solidFill>
                          <a:latin typeface="Arial"/>
                          <a:ea typeface="Arial"/>
                          <a:cs typeface="Arial"/>
                        </a:rPr>
                        <a:t>План на две недели и DoD</a:t>
                      </a:r>
                    </a:p>
                  </a:txBody>
                  <a:tcPr marL="95250" marR="95250" marT="47625" marB="476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95C2A"/>
                          </a:solidFill>
                          <a:latin typeface="Arial"/>
                          <a:ea typeface="Arial"/>
                          <a:cs typeface="Arial"/>
                        </a:rPr>
                        <a:t>ГОТОВО</a:t>
                      </a:r>
                    </a:p>
                  </a:txBody>
                  <a:tcPr marL="95250" marR="95250" marT="47625" marB="47625" anchor="ctr">
                    <a:solidFill>
                      <a:srgbClr val="D8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0C0D"/>
                          </a:solidFill>
                          <a:latin typeface="Arial"/>
                          <a:ea typeface="Arial"/>
                          <a:cs typeface="Arial"/>
                        </a:rPr>
                        <a:t>Ян, Даниил и Матвей получили по 5 задач</a:t>
                      </a:r>
                    </a:p>
                  </a:txBody>
                  <a:tcPr marL="95250" marR="95250" marT="47625" marB="47625" anchor="ctr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0C0D"/>
                          </a:solidFill>
                          <a:latin typeface="Arial"/>
                          <a:ea typeface="Arial"/>
                          <a:cs typeface="Arial"/>
                        </a:rPr>
                        <a:t>Созвон и процессные решения</a:t>
                      </a:r>
                    </a:p>
                  </a:txBody>
                  <a:tcPr marL="95250" marR="95250" marT="47625" marB="476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8B1E18"/>
                          </a:solidFill>
                          <a:latin typeface="Arial"/>
                          <a:ea typeface="Arial"/>
                          <a:cs typeface="Arial"/>
                        </a:rPr>
                        <a:t>НУЖНА КОМАНДА</a:t>
                      </a:r>
                    </a:p>
                  </a:txBody>
                  <a:tcPr marL="95250" marR="95250" marT="47625" marB="47625" anchor="ctr">
                    <a:solidFill>
                      <a:srgbClr val="FFD8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0C0D"/>
                          </a:solidFill>
                          <a:latin typeface="Arial"/>
                          <a:ea typeface="Arial"/>
                          <a:cs typeface="Arial"/>
                        </a:rPr>
                        <a:t>Подтвердить monorepo, review и tracker</a:t>
                      </a:r>
                    </a:p>
                  </a:txBody>
                  <a:tcPr marL="95250" marR="95250" marT="47625" marB="47625" anchor="ctr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0C0D"/>
                          </a:solidFill>
                          <a:latin typeface="Arial"/>
                          <a:ea typeface="Arial"/>
                          <a:cs typeface="Arial"/>
                        </a:rPr>
                        <a:t>Совместная доска</a:t>
                      </a:r>
                    </a:p>
                  </a:txBody>
                  <a:tcPr marL="95250" marR="95250" marT="47625" marB="476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8B1E18"/>
                          </a:solidFill>
                          <a:latin typeface="Arial"/>
                          <a:ea typeface="Arial"/>
                          <a:cs typeface="Arial"/>
                        </a:rPr>
                        <a:t>ВНЕШНЕЕ ДЕЙСТВИЕ</a:t>
                      </a:r>
                    </a:p>
                  </a:txBody>
                  <a:tcPr marL="95250" marR="95250" marT="47625" marB="47625" anchor="ctr">
                    <a:solidFill>
                      <a:srgbClr val="FFD8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0C0D"/>
                          </a:solidFill>
                          <a:latin typeface="Arial"/>
                          <a:ea typeface="Arial"/>
                          <a:cs typeface="Arial"/>
                        </a:rPr>
                        <a:t>Перенести flow в FigJam/Excalidraw и дать доступ</a:t>
                      </a:r>
                    </a:p>
                  </a:txBody>
                  <a:tcPr marL="95250" marR="95250" marT="47625" marB="47625" anchor="ctr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0C0D"/>
                          </a:solidFill>
                          <a:latin typeface="Arial"/>
                          <a:ea typeface="Arial"/>
                          <a:cs typeface="Arial"/>
                        </a:rPr>
                        <a:t>Согласование с преподавателем</a:t>
                      </a:r>
                    </a:p>
                  </a:txBody>
                  <a:tcPr marL="95250" marR="95250" marT="47625" marB="476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8B1E18"/>
                          </a:solidFill>
                          <a:latin typeface="Arial"/>
                          <a:ea typeface="Arial"/>
                          <a:cs typeface="Arial"/>
                        </a:rPr>
                        <a:t>ВНЕШНЕЕ ДЕЙСТВИЕ</a:t>
                      </a:r>
                    </a:p>
                  </a:txBody>
                  <a:tcPr marL="95250" marR="95250" marT="47625" marB="47625" anchor="ctr">
                    <a:solidFill>
                      <a:srgbClr val="FFD8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0C0D"/>
                          </a:solidFill>
                          <a:latin typeface="Arial"/>
                          <a:ea typeface="Arial"/>
                          <a:cs typeface="Arial"/>
                        </a:rPr>
                        <a:t>Отправить пять подготовленных вопросов</a:t>
                      </a:r>
                    </a:p>
                  </a:txBody>
                  <a:tcPr marL="95250" marR="95250" marT="47625" marB="4762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92F5A92-32AC-4383-9803-C5AF24485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924550"/>
            <a:ext cx="10858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FF5148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FF5148"/>
                </a:solidFill>
                <a:latin typeface="Arial"/>
                <a:ea typeface="Arial"/>
                <a:cs typeface="Arial"/>
              </a:rPr>
              <a:t>Формально пакет станет полным после созвона, совместной доски, переноса задач в трекер и ответа преподавателя.</a:t>
            </a:r>
          </a:p>
        </p:txBody>
      </p:sp>
    </p:spTree>
    <p:extLst>
      <p:ext uri="{BB962C8B-B14F-4D97-AF65-F5344CB8AC3E}">
        <p14:creationId xmlns:p14="http://schemas.microsoft.com/office/powerpoint/2010/main" val="18594059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2026-09-16T20:03:21.0440000Z</dcterms:created>
  <dcterms:modified xsi:type="dcterms:W3CDTF">2026-09-16T20:03:21.0440000Z</dcterms:modified>
</coreProperties>
</file>