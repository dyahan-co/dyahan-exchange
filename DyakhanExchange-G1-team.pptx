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требований: https://github.com/stepancar-web-programming/readme/blob/master/PROJECT.md. КУМcoin является только игровой валютой.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Архитектура является предложением для согласования с преподавателем. Требование курса: минимальный backend на Node.js; Spring Core остаётся целевым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Детальный аудит хранится в docs/preparation-audit.md. Владельцы задач: Ян, Даниил и Матвей. Не отмечать внешние действия выполненными до появления ссылки, протокола или ответа преподавателя.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BF0AE9-5A8B-4AF1-9C87-597EF342E1B0}"/>
              </a:ext>
            </a:extLst>
          </p:cNvPr>
          <p:cNvSpPr>
            <a:spLocks noGrp="1"/>
          </p:cNvSpPr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D9FF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D17312-6217-4EE1-B0B4-0A2441FC7321}"/>
              </a:ext>
            </a:extLst>
          </p:cNvPr>
          <p:cNvSpPr>
            <a:spLocks noGrp="1"/>
          </p:cNvSpPr>
          <p:nvPr/>
        </p:nvSpPr>
        <p:spPr>
          <a:xfrm>
            <a:off x="7953375" y="1276350"/>
            <a:ext cx="4000500" cy="1476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8250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8250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КУМ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AADB45-DDB5-4082-931D-EEEC34BC4CA5}"/>
              </a:ext>
            </a:extLst>
          </p:cNvPr>
          <p:cNvSpPr>
            <a:spLocks noGrp="1"/>
          </p:cNvSpPr>
          <p:nvPr/>
        </p:nvSpPr>
        <p:spPr>
          <a:xfrm>
            <a:off x="7953375" y="2857500"/>
            <a:ext cx="4000500" cy="971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5550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COIN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4EFAE-5530-4F73-BB6D-FA8F1B596F35}"/>
              </a:ext>
            </a:extLst>
          </p:cNvPr>
          <p:cNvSpPr>
            <a:spLocks noGrp="1"/>
          </p:cNvSpPr>
          <p:nvPr/>
        </p:nvSpPr>
        <p:spPr>
          <a:xfrm>
            <a:off x="8096250" y="4619625"/>
            <a:ext cx="37147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475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228.13 ₽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318570-C190-4E10-83BD-0F9E66DB61F0}"/>
              </a:ext>
            </a:extLst>
          </p:cNvPr>
          <p:cNvSpPr>
            <a:spLocks noGrp="1"/>
          </p:cNvSpPr>
          <p:nvPr/>
        </p:nvSpPr>
        <p:spPr>
          <a:xfrm>
            <a:off x="8096250" y="519112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+13.37%. ИНДЕКС ДОВЕРИЯ 3%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AFB42-0291-447D-B1DA-929EA353BFCE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КУРСОВОЙ ПРОЕКТ, G1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D1E10B-054C-4394-9414-3360C5A16EB8}"/>
              </a:ext>
            </a:extLst>
          </p:cNvPr>
          <p:cNvSpPr>
            <a:spLocks noGrp="1"/>
          </p:cNvSpPr>
          <p:nvPr/>
        </p:nvSpPr>
        <p:spPr>
          <a:xfrm>
            <a:off x="590550" y="1371600"/>
            <a:ext cx="64770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ДЯХАН</a:t>
            </a:r>
          </a:p>
          <a:p>
            <a:pPr algn="l">
              <a:defRPr sz="5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EXCHANGE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00C18-FA4B-4E61-BCE3-AA2AA1C17A7F}"/>
              </a:ext>
            </a:extLst>
          </p:cNvPr>
          <p:cNvSpPr>
            <a:spLocks noGrp="1"/>
          </p:cNvSpPr>
          <p:nvPr/>
        </p:nvSpPr>
        <p:spPr>
          <a:xfrm>
            <a:off x="628650" y="3286125"/>
            <a:ext cx="56197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Крипто-биржа-пародия с монетой КУМcoin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3946D1-D527-4485-B6CF-63A8A1781C03}"/>
              </a:ext>
            </a:extLst>
          </p:cNvPr>
          <p:cNvSpPr>
            <a:spLocks noGrp="1"/>
          </p:cNvSpPr>
          <p:nvPr/>
        </p:nvSpPr>
        <p:spPr>
          <a:xfrm>
            <a:off x="628650" y="4343400"/>
            <a:ext cx="55245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Экономика держится на мемах, игровых событиях и рандоме. Реальных денег в продукте нет.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0068EA-5D16-4A94-8DE0-937C8F9F62D3}"/>
              </a:ext>
            </a:extLst>
          </p:cNvPr>
          <p:cNvSpPr>
            <a:spLocks noGrp="1"/>
          </p:cNvSpPr>
          <p:nvPr/>
        </p:nvSpPr>
        <p:spPr>
          <a:xfrm>
            <a:off x="628650" y="5476875"/>
            <a:ext cx="2381250" cy="38100"/>
          </a:xfrm>
          <a:prstGeom prst="rect">
            <a:avLst/>
          </a:prstGeom>
          <a:solidFill>
            <a:srgbClr val="FF51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836465-AC29-4210-91A2-FB23F1C66111}"/>
              </a:ext>
            </a:extLst>
          </p:cNvPr>
          <p:cNvSpPr>
            <a:spLocks noGrp="1"/>
          </p:cNvSpPr>
          <p:nvPr/>
        </p:nvSpPr>
        <p:spPr>
          <a:xfrm>
            <a:off x="628650" y="561975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 dirty="0" err="1">
                <a:solidFill>
                  <a:srgbClr val="F1F0E9"/>
                </a:solidFill>
                <a:latin typeface="Arial"/>
                <a:ea typeface="Arial"/>
                <a:cs typeface="Arial"/>
              </a:rPr>
              <a:t>Команда</a:t>
            </a:r>
            <a:r>
              <a:rPr sz="1275" b="1" i="0" dirty="0">
                <a:solidFill>
                  <a:srgbClr val="F1F0E9"/>
                </a:solidFill>
                <a:latin typeface="Arial"/>
                <a:ea typeface="Arial"/>
                <a:cs typeface="Arial"/>
              </a:rPr>
              <a:t>: </a:t>
            </a:r>
            <a:r>
              <a:rPr sz="1275" b="1" i="0" dirty="0" err="1">
                <a:solidFill>
                  <a:srgbClr val="F1F0E9"/>
                </a:solidFill>
                <a:latin typeface="Arial"/>
                <a:ea typeface="Arial"/>
                <a:cs typeface="Arial"/>
              </a:rPr>
              <a:t>Ян</a:t>
            </a:r>
            <a:r>
              <a:rPr sz="1275" b="1" i="0" dirty="0">
                <a:solidFill>
                  <a:srgbClr val="F1F0E9"/>
                </a:solidFill>
                <a:latin typeface="Arial"/>
                <a:ea typeface="Arial"/>
                <a:cs typeface="Arial"/>
              </a:rPr>
              <a:t>, </a:t>
            </a:r>
            <a:r>
              <a:rPr sz="1275" b="1" i="0" dirty="0" err="1">
                <a:solidFill>
                  <a:srgbClr val="F1F0E9"/>
                </a:solidFill>
                <a:latin typeface="Arial"/>
                <a:ea typeface="Arial"/>
                <a:cs typeface="Arial"/>
              </a:rPr>
              <a:t>Даниил</a:t>
            </a:r>
            <a:r>
              <a:rPr sz="1275" b="1" i="0" dirty="0">
                <a:solidFill>
                  <a:srgbClr val="F1F0E9"/>
                </a:solidFill>
                <a:latin typeface="Arial"/>
                <a:ea typeface="Arial"/>
                <a:cs typeface="Arial"/>
              </a:rPr>
              <a:t>, </a:t>
            </a:r>
            <a:r>
              <a:rPr sz="1275" b="1" i="0" dirty="0" err="1">
                <a:solidFill>
                  <a:srgbClr val="F1F0E9"/>
                </a:solidFill>
                <a:latin typeface="Arial"/>
                <a:ea typeface="Arial"/>
                <a:cs typeface="Arial"/>
              </a:rPr>
              <a:t>Матвей</a:t>
            </a:r>
            <a:r>
              <a:rPr lang="ru-RU" sz="1275" b="1" i="0" dirty="0">
                <a:solidFill>
                  <a:srgbClr val="F1F0E9"/>
                </a:solidFill>
                <a:latin typeface="Arial"/>
                <a:ea typeface="Arial"/>
                <a:cs typeface="Arial"/>
              </a:rPr>
              <a:t>, Андрей</a:t>
            </a:r>
            <a:endParaRPr sz="1275" b="1" i="0" dirty="0">
              <a:solidFill>
                <a:srgbClr val="F1F0E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7EC132-E0CD-4EAE-8820-8C7A7F708CE1}"/>
              </a:ext>
            </a:extLst>
          </p:cNvPr>
          <p:cNvSpPr>
            <a:spLocks noGrp="1"/>
          </p:cNvSpPr>
          <p:nvPr/>
        </p:nvSpPr>
        <p:spPr>
          <a:xfrm>
            <a:off x="628650" y="5953125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050" b="0" i="0" dirty="0" err="1">
                <a:solidFill>
                  <a:srgbClr val="A4A6A1"/>
                </a:solidFill>
                <a:latin typeface="Arial"/>
                <a:ea typeface="Arial"/>
                <a:cs typeface="Arial"/>
              </a:rPr>
              <a:t>Защита</a:t>
            </a:r>
            <a:r>
              <a:rPr sz="1050" b="0" i="0" dirty="0">
                <a:solidFill>
                  <a:srgbClr val="A4A6A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dirty="0" err="1">
                <a:solidFill>
                  <a:srgbClr val="A4A6A1"/>
                </a:solidFill>
                <a:latin typeface="Arial"/>
                <a:ea typeface="Arial"/>
                <a:cs typeface="Arial"/>
              </a:rPr>
              <a:t>стартовой</a:t>
            </a:r>
            <a:r>
              <a:rPr sz="1050" b="0" i="0" dirty="0">
                <a:solidFill>
                  <a:srgbClr val="A4A6A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dirty="0" err="1">
                <a:solidFill>
                  <a:srgbClr val="A4A6A1"/>
                </a:solidFill>
                <a:latin typeface="Arial"/>
                <a:ea typeface="Arial"/>
                <a:cs typeface="Arial"/>
              </a:rPr>
              <a:t>точки</a:t>
            </a:r>
            <a:r>
              <a:rPr sz="1050" b="0" i="0" dirty="0">
                <a:solidFill>
                  <a:srgbClr val="A4A6A1"/>
                </a:solidFill>
                <a:latin typeface="Arial"/>
                <a:ea typeface="Arial"/>
                <a:cs typeface="Arial"/>
              </a:rPr>
              <a:t>, 1</a:t>
            </a:r>
            <a:r>
              <a:rPr lang="ru-RU" sz="1050" b="0" i="0" dirty="0">
                <a:solidFill>
                  <a:srgbClr val="A4A6A1"/>
                </a:solidFill>
                <a:latin typeface="Arial"/>
                <a:ea typeface="Arial"/>
                <a:cs typeface="Arial"/>
              </a:rPr>
              <a:t>5</a:t>
            </a:r>
            <a:r>
              <a:rPr sz="1050" b="0" i="0" dirty="0">
                <a:solidFill>
                  <a:srgbClr val="A4A6A1"/>
                </a:solidFill>
                <a:latin typeface="Arial"/>
                <a:ea typeface="Arial"/>
                <a:cs typeface="Arial"/>
              </a:rPr>
              <a:t>.</a:t>
            </a:r>
            <a:r>
              <a:rPr lang="ru-RU" sz="1050" b="0" i="0" dirty="0">
                <a:solidFill>
                  <a:srgbClr val="A4A6A1"/>
                </a:solidFill>
                <a:latin typeface="Arial"/>
                <a:ea typeface="Arial"/>
                <a:cs typeface="Arial"/>
              </a:rPr>
              <a:t>10</a:t>
            </a:r>
            <a:endParaRPr sz="1050" b="0" i="0" dirty="0">
              <a:solidFill>
                <a:srgbClr val="A4A6A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735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585AF60-F764-406D-80E1-CD6D23BFCCD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AD9140-D25A-47D3-B12A-753E83BEF51A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Продукт и основная игровая петля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F6DBA6-2F3C-436B-9CDF-FA6585A4FF9C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3C539-9290-4027-A00E-651865508E02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46845B-44A7-48A0-82BA-B8EDD8423A3F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EE0B6-D52D-4B2D-B37C-222F622AAF6C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Пользователь создаёт ценность сам: мемы и реакции двигают вымышленный рынок, а новый раунд всегда даёт повод вернуться.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EA3376-4761-454C-AD3E-4A2E799348DB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190750" cy="1047750"/>
          </a:xfrm>
          <a:prstGeom prst="roundRect">
            <a:avLst>
              <a:gd name="adj" fmla="val 7273"/>
            </a:avLst>
          </a:prstGeom>
          <a:solidFill>
            <a:srgbClr val="121415"/>
          </a:solidFill>
          <a:ln w="9525">
            <a:solidFill>
              <a:srgbClr val="D9FF37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FF37"/>
                </a:solidFill>
                <a:latin typeface="Arial"/>
                <a:ea typeface="Arial"/>
                <a:cs typeface="Arial"/>
              </a:rPr>
              <a:t>ДОБЫТЬ КУМ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75D102-F80B-40FE-BB98-3940FF2B87F6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РИСКНУТЬ</a:t>
            </a:r>
          </a:p>
          <a:p>
            <a:pPr algn="ctr">
              <a:defRPr sz="1425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ИЛИ ТОРГОВАТЬ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E777B5-D1FF-41C0-A9F8-7B2E57CF88C4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121415"/>
          </a:solidFill>
          <a:ln w="9525">
            <a:solidFill>
              <a:srgbClr val="86A8FF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86A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6A8FF"/>
                </a:solidFill>
                <a:latin typeface="Arial"/>
                <a:ea typeface="Arial"/>
                <a:cs typeface="Arial"/>
              </a:rPr>
              <a:t>ПОЛУЧИТЬ</a:t>
            </a:r>
          </a:p>
          <a:p>
            <a:pPr algn="ctr">
              <a:defRPr sz="1425" b="1">
                <a:solidFill>
                  <a:srgbClr val="86A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6A8FF"/>
                </a:solidFill>
                <a:latin typeface="Arial"/>
                <a:ea typeface="Arial"/>
                <a:cs typeface="Arial"/>
              </a:rPr>
              <a:t>СОБЫТИЕ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6D5AC1-0297-42E3-93D6-24F5F2F1F1B4}"/>
              </a:ext>
            </a:extLst>
          </p:cNvPr>
          <p:cNvSpPr>
            <a:spLocks noGrp="1"/>
          </p:cNvSpPr>
          <p:nvPr/>
        </p:nvSpPr>
        <p:spPr>
          <a:xfrm>
            <a:off x="9201150" y="2571750"/>
            <a:ext cx="2190750" cy="1047750"/>
          </a:xfrm>
          <a:prstGeom prst="roundRect">
            <a:avLst>
              <a:gd name="adj" fmla="val 7273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F0E9"/>
                </a:solidFill>
                <a:latin typeface="Arial"/>
                <a:ea typeface="Arial"/>
                <a:cs typeface="Arial"/>
              </a:rPr>
              <a:t>ВЕРНУТЬСЯ</a:t>
            </a:r>
          </a:p>
          <a:p>
            <a:pPr algn="ctr">
              <a:defRPr sz="1350" b="1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F0E9"/>
                </a:solidFill>
                <a:latin typeface="Arial"/>
                <a:ea typeface="Arial"/>
                <a:cs typeface="Arial"/>
              </a:rPr>
              <a:t>В НОВЫЙ РАУНД</a:t>
            </a:r>
          </a:p>
        </p:txBody>
      </p:sp>
      <p:cxnSp>
        <p:nvCxnSpPr>
          <p:cNvPr id="28" name="Straight Arrow Connector 27"/>
          <p:cNvCxnSpPr>
            <a:stCxn id="7" idx="3"/>
            <a:endCxn id="8" idx="1"/>
          </p:cNvCxnSpPr>
          <p:nvPr/>
        </p:nvCxnSpPr>
        <p:spPr>
          <a:xfrm>
            <a:off x="3048000" y="3095625"/>
            <a:ext cx="590550" cy="0"/>
          </a:xfrm>
          <a:prstGeom prst="straightConnector1">
            <a:avLst/>
          </a:prstGeom>
          <a:ln w="19050">
            <a:solidFill>
              <a:srgbClr val="D9FF37"/>
            </a:solidFill>
            <a:prstDash val="solid"/>
            <a:tailEnd type="arrow" w="sm" len="sm"/>
          </a:ln>
        </p:spPr>
      </p:cxnSp>
      <p:cxnSp>
        <p:nvCxnSpPr>
          <p:cNvPr id="29" name="Straight Arrow Connector 28"/>
          <p:cNvCxnSpPr>
            <a:stCxn id="8" idx="3"/>
            <a:endCxn id="9" idx="1"/>
          </p:cNvCxnSpPr>
          <p:nvPr/>
        </p:nvCxnSpPr>
        <p:spPr>
          <a:xfrm>
            <a:off x="5924550" y="3095625"/>
            <a:ext cx="590550" cy="0"/>
          </a:xfrm>
          <a:prstGeom prst="straightConnector1">
            <a:avLst/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cxnSp>
        <p:nvCxnSpPr>
          <p:cNvPr id="30" name="Straight Arrow Connector 29"/>
          <p:cNvCxnSpPr>
            <a:stCxn id="9" idx="3"/>
            <a:endCxn id="10" idx="1"/>
          </p:cNvCxnSpPr>
          <p:nvPr/>
        </p:nvCxnSpPr>
        <p:spPr>
          <a:xfrm>
            <a:off x="8610600" y="3095625"/>
            <a:ext cx="590550" cy="0"/>
          </a:xfrm>
          <a:prstGeom prst="straightConnector1">
            <a:avLst/>
          </a:prstGeom>
          <a:ln w="19050">
            <a:solidFill>
              <a:srgbClr val="86A8FF"/>
            </a:solidFill>
            <a:prstDash val="solid"/>
            <a:tailEnd type="arrow" w="sm" len="sm"/>
          </a:ln>
        </p:spPr>
      </p:cxnSp>
      <p:cxnSp>
        <p:nvCxnSpPr>
          <p:cNvPr id="31" name="Connector: Elbow 30"/>
          <p:cNvCxnSpPr>
            <a:stCxn id="10" idx="2"/>
            <a:endCxn id="7" idx="2"/>
          </p:cNvCxnSpPr>
          <p:nvPr/>
        </p:nvCxnSpPr>
        <p:spPr>
          <a:xfrm flipH="1">
            <a:off x="1952625" y="3619500"/>
            <a:ext cx="8343900" cy="228600"/>
          </a:xfrm>
          <a:prstGeom prst="bentConnector4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84720FF-3D79-45D8-BBC2-239F4C9F98C7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3822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Слоп-угадайка, рулетка и дуэль пополняют игровой баланс. P2P, ставки зрителей и кредит создают риск. Чат и хоррор-отзывы превращают результат в социальный контент.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08C815-B496-49B1-895B-2F2DD511C443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Граница продукта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5675CC-0563-4FF4-97BB-F0878A5B9234}"/>
              </a:ext>
            </a:extLst>
          </p:cNvPr>
          <p:cNvSpPr>
            <a:spLocks noGrp="1"/>
          </p:cNvSpPr>
          <p:nvPr/>
        </p:nvSpPr>
        <p:spPr>
          <a:xfrm>
            <a:off x="2857500" y="55816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Только внутренняя валюта. Нет платежей, вывода средств, KYC и обещаний доходности.</a:t>
            </a:r>
          </a:p>
        </p:txBody>
      </p:sp>
    </p:spTree>
    <p:extLst>
      <p:ext uri="{BB962C8B-B14F-4D97-AF65-F5344CB8AC3E}">
        <p14:creationId xmlns:p14="http://schemas.microsoft.com/office/powerpoint/2010/main" val="180242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DAE2E8A-660D-4499-8EDE-D02EEB456CAC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BE68C4-5819-4F24-9A43-DCAD587D2246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Вход в продукт, авторизация и роли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E769C4-C831-456A-9146-FD2BE43E9806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C8C8C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D270BE-45A6-4C6B-953D-2D56B493E43B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787A7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87A76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83B9F-2A8F-4F41-B816-349FC622C69F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787A7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87A76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94AB33-73E6-4496-892F-4CD2ECF95D52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233362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КАК НАХОДЯТ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35F656-DF50-40FF-94F4-EDEAF798F7D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20002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Ссылка курса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CD3FD4-4490-4A40-9803-E9A874461EDA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20002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QR на защите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08D6CB-6248-4C14-AB8F-7B74DBD5C6CE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20002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GitHub README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7E0E10-CC4B-4BD0-92AC-CF01503CFF7B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0002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Приглашение друга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774359-F2D2-431A-B11C-4D2CE46B90E3}"/>
              </a:ext>
            </a:extLst>
          </p:cNvPr>
          <p:cNvSpPr>
            <a:spLocks noGrp="1"/>
          </p:cNvSpPr>
          <p:nvPr/>
        </p:nvSpPr>
        <p:spPr>
          <a:xfrm>
            <a:off x="3810000" y="2381250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F1F0E9"/>
          </a:solidFill>
          <a:ln w="9525">
            <a:solidFill>
              <a:srgbClr val="FF5148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ПУБЛИЧНЫЙ</a:t>
            </a:r>
          </a:p>
          <a:p>
            <a:pPr algn="ctr">
              <a:defRPr sz="1575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ТЕРМИНАЛ</a:t>
            </a:r>
          </a:p>
        </p:txBody>
      </p:sp>
      <p:cxnSp>
        <p:nvCxnSpPr>
          <p:cNvPr id="39" name="Connector: Elbow 38"/>
          <p:cNvCxnSpPr>
            <a:stCxn id="7" idx="3"/>
            <a:endCxn id="11" idx="1"/>
          </p:cNvCxnSpPr>
          <p:nvPr/>
        </p:nvCxnSpPr>
        <p:spPr>
          <a:xfrm>
            <a:off x="2667000" y="1952625"/>
            <a:ext cx="1143000" cy="990600"/>
          </a:xfrm>
          <a:prstGeom prst="bentConnector3">
            <a:avLst>
              <a:gd name="adj1" fmla="val 50000"/>
            </a:avLst>
          </a:prstGeom>
          <a:ln w="19050">
            <a:solidFill>
              <a:srgbClr val="9B9D98"/>
            </a:solidFill>
            <a:prstDash val="solid"/>
            <a:tailEnd type="arrow" w="sm" len="sm"/>
          </a:ln>
        </p:spPr>
      </p:cxnSp>
      <p:cxnSp>
        <p:nvCxnSpPr>
          <p:cNvPr id="40" name="Connector: Elbow 39"/>
          <p:cNvCxnSpPr>
            <a:stCxn id="8" idx="3"/>
            <a:endCxn id="11" idx="1"/>
          </p:cNvCxnSpPr>
          <p:nvPr/>
        </p:nvCxnSpPr>
        <p:spPr>
          <a:xfrm>
            <a:off x="2667000" y="2809875"/>
            <a:ext cx="1143000" cy="133350"/>
          </a:xfrm>
          <a:prstGeom prst="bentConnector3">
            <a:avLst>
              <a:gd name="adj1" fmla="val 50000"/>
            </a:avLst>
          </a:prstGeom>
          <a:ln w="19050">
            <a:solidFill>
              <a:srgbClr val="9B9D98"/>
            </a:solidFill>
            <a:prstDash val="solid"/>
            <a:tailEnd type="arrow" w="sm" len="sm"/>
          </a:ln>
        </p:spPr>
      </p:cxnSp>
      <p:cxnSp>
        <p:nvCxnSpPr>
          <p:cNvPr id="41" name="Connector: Elbow 40"/>
          <p:cNvCxnSpPr>
            <a:stCxn id="9" idx="3"/>
            <a:endCxn id="11" idx="1"/>
          </p:cNvCxnSpPr>
          <p:nvPr/>
        </p:nvCxnSpPr>
        <p:spPr>
          <a:xfrm flipV="1">
            <a:off x="2667000" y="2943225"/>
            <a:ext cx="1143000" cy="723900"/>
          </a:xfrm>
          <a:prstGeom prst="bentConnector3">
            <a:avLst>
              <a:gd name="adj1" fmla="val 50000"/>
            </a:avLst>
          </a:prstGeom>
          <a:ln w="19050">
            <a:solidFill>
              <a:srgbClr val="9B9D98"/>
            </a:solidFill>
            <a:prstDash val="solid"/>
            <a:tailEnd type="arrow" w="sm" len="sm"/>
          </a:ln>
        </p:spPr>
      </p:cxnSp>
      <p:cxnSp>
        <p:nvCxnSpPr>
          <p:cNvPr id="42" name="Connector: Elbow 41"/>
          <p:cNvCxnSpPr>
            <a:stCxn id="10" idx="3"/>
            <a:endCxn id="11" idx="1"/>
          </p:cNvCxnSpPr>
          <p:nvPr/>
        </p:nvCxnSpPr>
        <p:spPr>
          <a:xfrm flipV="1">
            <a:off x="2667000" y="2943225"/>
            <a:ext cx="1143000" cy="1581150"/>
          </a:xfrm>
          <a:prstGeom prst="bentConnector3">
            <a:avLst>
              <a:gd name="adj1" fmla="val 50000"/>
            </a:avLst>
          </a:prstGeom>
          <a:ln w="19050">
            <a:solidFill>
              <a:srgbClr val="9B9D98"/>
            </a:solidFill>
            <a:prstDash val="solid"/>
            <a:tailEnd type="arrow" w="sm" len="sm"/>
          </a:ln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AEAE65-7665-473D-9A75-B981604E9352}"/>
              </a:ext>
            </a:extLst>
          </p:cNvPr>
          <p:cNvSpPr>
            <a:spLocks noGrp="1"/>
          </p:cNvSpPr>
          <p:nvPr/>
        </p:nvSpPr>
        <p:spPr>
          <a:xfrm>
            <a:off x="7162800" y="1657350"/>
            <a:ext cx="1905000" cy="819150"/>
          </a:xfrm>
          <a:prstGeom prst="roundRect">
            <a:avLst>
              <a:gd name="adj" fmla="val 9302"/>
            </a:avLst>
          </a:prstGeom>
          <a:solidFill>
            <a:srgbClr val="D9FF37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DEMO AUTH</a:t>
            </a:r>
          </a:p>
          <a:p>
            <a:pPr algn="ctr">
              <a:defRPr sz="1350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играть сразу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8114F3-3D19-414E-AB70-C8A81537B5FA}"/>
              </a:ext>
            </a:extLst>
          </p:cNvPr>
          <p:cNvSpPr>
            <a:spLocks noGrp="1"/>
          </p:cNvSpPr>
          <p:nvPr/>
        </p:nvSpPr>
        <p:spPr>
          <a:xfrm>
            <a:off x="7162800" y="3333750"/>
            <a:ext cx="1905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АККАУНТ</a:t>
            </a:r>
          </a:p>
          <a:p>
            <a:pPr algn="ctr">
              <a:defRPr sz="127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сохранить прогресс</a:t>
            </a:r>
          </a:p>
        </p:txBody>
      </p:sp>
      <p:cxnSp>
        <p:nvCxnSpPr>
          <p:cNvPr id="45" name="Connector: Elbow 44"/>
          <p:cNvCxnSpPr>
            <a:stCxn id="11" idx="3"/>
            <a:endCxn id="16" idx="1"/>
          </p:cNvCxnSpPr>
          <p:nvPr/>
        </p:nvCxnSpPr>
        <p:spPr>
          <a:xfrm flipV="1">
            <a:off x="6000750" y="2066925"/>
            <a:ext cx="1162050" cy="876300"/>
          </a:xfrm>
          <a:prstGeom prst="bentConnector3">
            <a:avLst>
              <a:gd name="adj1" fmla="val 50000"/>
            </a:avLst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cxnSp>
        <p:nvCxnSpPr>
          <p:cNvPr id="46" name="Connector: Elbow 45"/>
          <p:cNvCxnSpPr>
            <a:stCxn id="11" idx="3"/>
            <a:endCxn id="17" idx="1"/>
          </p:cNvCxnSpPr>
          <p:nvPr/>
        </p:nvCxnSpPr>
        <p:spPr>
          <a:xfrm>
            <a:off x="6000750" y="2943225"/>
            <a:ext cx="1162050" cy="800100"/>
          </a:xfrm>
          <a:prstGeom prst="bentConnector3">
            <a:avLst>
              <a:gd name="adj1" fmla="val 50000"/>
            </a:avLst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ABF9622-7FB8-4A7D-BAFB-868F2CC952AE}"/>
              </a:ext>
            </a:extLst>
          </p:cNvPr>
          <p:cNvSpPr>
            <a:spLocks noGrp="1"/>
          </p:cNvSpPr>
          <p:nvPr/>
        </p:nvSpPr>
        <p:spPr>
          <a:xfrm>
            <a:off x="9667875" y="146685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ГОСТЬ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98CD41-C3A1-43FE-BD7F-C0D23C33C431}"/>
              </a:ext>
            </a:extLst>
          </p:cNvPr>
          <p:cNvSpPr>
            <a:spLocks noGrp="1"/>
          </p:cNvSpPr>
          <p:nvPr/>
        </p:nvSpPr>
        <p:spPr>
          <a:xfrm>
            <a:off x="9667875" y="1762125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смотрит курс, заявки и доску позора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D708C3-3BBA-4A7F-8DAE-F3F55FB52536}"/>
              </a:ext>
            </a:extLst>
          </p:cNvPr>
          <p:cNvSpPr>
            <a:spLocks noGrp="1"/>
          </p:cNvSpPr>
          <p:nvPr/>
        </p:nvSpPr>
        <p:spPr>
          <a:xfrm>
            <a:off x="9667875" y="261937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ИГРОК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DD3C45-BFE5-4D5F-A882-CA02F1911914}"/>
              </a:ext>
            </a:extLst>
          </p:cNvPr>
          <p:cNvSpPr>
            <a:spLocks noGrp="1"/>
          </p:cNvSpPr>
          <p:nvPr/>
        </p:nvSpPr>
        <p:spPr>
          <a:xfrm>
            <a:off x="9667875" y="2914650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играет, торгует и берёт игровой кредит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33C826-2BFE-45C4-850D-4FF515CB6E75}"/>
              </a:ext>
            </a:extLst>
          </p:cNvPr>
          <p:cNvSpPr>
            <a:spLocks noGrp="1"/>
          </p:cNvSpPr>
          <p:nvPr/>
        </p:nvSpPr>
        <p:spPr>
          <a:xfrm>
            <a:off x="9667875" y="37719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ЗРИТЕЛЬ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1F807B-88D1-4F8E-8580-4F01F3BA22AD}"/>
              </a:ext>
            </a:extLst>
          </p:cNvPr>
          <p:cNvSpPr>
            <a:spLocks noGrp="1"/>
          </p:cNvSpPr>
          <p:nvPr/>
        </p:nvSpPr>
        <p:spPr>
          <a:xfrm>
            <a:off x="9667875" y="4067175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смотрит дуэли, ставит коины и голосует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D45E07-FBEB-4115-BA35-D20B0459C53B}"/>
              </a:ext>
            </a:extLst>
          </p:cNvPr>
          <p:cNvSpPr>
            <a:spLocks noGrp="1"/>
          </p:cNvSpPr>
          <p:nvPr/>
        </p:nvSpPr>
        <p:spPr>
          <a:xfrm>
            <a:off x="9667875" y="49244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МОДЕРАТОР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55EDFE-1B72-40E2-A2A5-9E9BC5393875}"/>
              </a:ext>
            </a:extLst>
          </p:cNvPr>
          <p:cNvSpPr>
            <a:spLocks noGrp="1"/>
          </p:cNvSpPr>
          <p:nvPr/>
        </p:nvSpPr>
        <p:spPr>
          <a:xfrm>
            <a:off x="9667875" y="5219700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разбирает жалобы на контент и чат</a:t>
            </a:r>
          </a:p>
        </p:txBody>
      </p:sp>
    </p:spTree>
    <p:extLst>
      <p:ext uri="{BB962C8B-B14F-4D97-AF65-F5344CB8AC3E}">
        <p14:creationId xmlns:p14="http://schemas.microsoft.com/office/powerpoint/2010/main" val="10973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8583998-2D8A-4CE2-909F-C493C2D60D1E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6AA115-0C10-4DB8-AB37-70F0FAB2F8C3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Сквозной пользовательский путь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AFA58D-98F9-4D12-8237-DC31F48172A5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F4592B-B818-42D2-B8F4-FDFB25289DE1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60849D-67D4-4397-9512-66652040F07A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A985B9-2BB3-4D4E-BB82-CF32B6A00522}"/>
              </a:ext>
            </a:extLst>
          </p:cNvPr>
          <p:cNvSpPr>
            <a:spLocks noGrp="1"/>
          </p:cNvSpPr>
          <p:nvPr/>
        </p:nvSpPr>
        <p:spPr>
          <a:xfrm>
            <a:off x="523875" y="16573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EC6E40-B409-4EB7-8962-7F3774F5E46A}"/>
              </a:ext>
            </a:extLst>
          </p:cNvPr>
          <p:cNvSpPr>
            <a:spLocks noGrp="1"/>
          </p:cNvSpPr>
          <p:nvPr/>
        </p:nvSpPr>
        <p:spPr>
          <a:xfrm>
            <a:off x="523875" y="2114550"/>
            <a:ext cx="1581150" cy="1066800"/>
          </a:xfrm>
          <a:prstGeom prst="roundRect">
            <a:avLst>
              <a:gd name="adj" fmla="val 7143"/>
            </a:avLst>
          </a:prstGeom>
          <a:solidFill>
            <a:srgbClr val="121415"/>
          </a:solidFill>
          <a:ln w="9525">
            <a:solidFill>
              <a:srgbClr val="33363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E3BA1-7022-4E70-AD9A-127A8652F110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4D789-5FE5-48B0-BF14-A5AFF3A0F2C4}"/>
              </a:ext>
            </a:extLst>
          </p:cNvPr>
          <p:cNvSpPr>
            <a:spLocks noGrp="1"/>
          </p:cNvSpPr>
          <p:nvPr/>
        </p:nvSpPr>
        <p:spPr>
          <a:xfrm>
            <a:off x="657225" y="2667000"/>
            <a:ext cx="1314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ссылка или QR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68009-1361-4791-BDBF-6CC4E831743B}"/>
              </a:ext>
            </a:extLst>
          </p:cNvPr>
          <p:cNvSpPr>
            <a:spLocks noGrp="1"/>
          </p:cNvSpPr>
          <p:nvPr/>
        </p:nvSpPr>
        <p:spPr>
          <a:xfrm>
            <a:off x="2447925" y="16573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EF5F18-6FDD-4F25-83F3-CCA0BB6A86F0}"/>
              </a:ext>
            </a:extLst>
          </p:cNvPr>
          <p:cNvSpPr>
            <a:spLocks noGrp="1"/>
          </p:cNvSpPr>
          <p:nvPr/>
        </p:nvSpPr>
        <p:spPr>
          <a:xfrm>
            <a:off x="2447925" y="2114550"/>
            <a:ext cx="1581150" cy="1066800"/>
          </a:xfrm>
          <a:prstGeom prst="roundRect">
            <a:avLst>
              <a:gd name="adj" fmla="val 7143"/>
            </a:avLst>
          </a:prstGeom>
          <a:solidFill>
            <a:srgbClr val="121415"/>
          </a:solidFill>
          <a:ln w="9525">
            <a:solidFill>
              <a:srgbClr val="33363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AE602E-03CE-4F25-97D5-1D943C0D37F0}"/>
              </a:ext>
            </a:extLst>
          </p:cNvPr>
          <p:cNvSpPr>
            <a:spLocks noGrp="1"/>
          </p:cNvSpPr>
          <p:nvPr/>
        </p:nvSpPr>
        <p:spPr>
          <a:xfrm>
            <a:off x="2590800" y="230505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ДЕМО / ВХОД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1929F3-A127-44ED-A56B-51096F28AA52}"/>
              </a:ext>
            </a:extLst>
          </p:cNvPr>
          <p:cNvSpPr>
            <a:spLocks noGrp="1"/>
          </p:cNvSpPr>
          <p:nvPr/>
        </p:nvSpPr>
        <p:spPr>
          <a:xfrm>
            <a:off x="2581275" y="2667000"/>
            <a:ext cx="1314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получить профиль</a:t>
            </a:r>
          </a:p>
        </p:txBody>
      </p:sp>
      <p:cxnSp>
        <p:nvCxnSpPr>
          <p:cNvPr id="59" name="Straight Arrow Connector 58"/>
          <p:cNvCxnSpPr>
            <a:stCxn id="7" idx="3"/>
            <a:endCxn id="11" idx="1"/>
          </p:cNvCxnSpPr>
          <p:nvPr/>
        </p:nvCxnSpPr>
        <p:spPr>
          <a:xfrm>
            <a:off x="2105025" y="2647950"/>
            <a:ext cx="342900" cy="0"/>
          </a:xfrm>
          <a:prstGeom prst="straightConnector1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C291D7A-612A-47A0-BCBF-5D858A94F5D3}"/>
              </a:ext>
            </a:extLst>
          </p:cNvPr>
          <p:cNvSpPr>
            <a:spLocks noGrp="1"/>
          </p:cNvSpPr>
          <p:nvPr/>
        </p:nvSpPr>
        <p:spPr>
          <a:xfrm>
            <a:off x="4371975" y="16573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1F44EF-2F7F-4CDC-A27E-B1807AF47EC9}"/>
              </a:ext>
            </a:extLst>
          </p:cNvPr>
          <p:cNvSpPr>
            <a:spLocks noGrp="1"/>
          </p:cNvSpPr>
          <p:nvPr/>
        </p:nvSpPr>
        <p:spPr>
          <a:xfrm>
            <a:off x="4371975" y="2114550"/>
            <a:ext cx="1581150" cy="1066800"/>
          </a:xfrm>
          <a:prstGeom prst="roundRect">
            <a:avLst>
              <a:gd name="adj" fmla="val 7143"/>
            </a:avLst>
          </a:prstGeom>
          <a:solidFill>
            <a:srgbClr val="121415"/>
          </a:solidFill>
          <a:ln w="9525">
            <a:solidFill>
              <a:srgbClr val="33363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CD5ED6-559C-4A7F-A24A-CFA4E6FE6DA9}"/>
              </a:ext>
            </a:extLst>
          </p:cNvPr>
          <p:cNvSpPr>
            <a:spLocks noGrp="1"/>
          </p:cNvSpPr>
          <p:nvPr/>
        </p:nvSpPr>
        <p:spPr>
          <a:xfrm>
            <a:off x="4514850" y="230505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ТЕРМИНАЛ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8364-F379-432E-A5CB-9A6B5C981EE9}"/>
              </a:ext>
            </a:extLst>
          </p:cNvPr>
          <p:cNvSpPr>
            <a:spLocks noGrp="1"/>
          </p:cNvSpPr>
          <p:nvPr/>
        </p:nvSpPr>
        <p:spPr>
          <a:xfrm>
            <a:off x="4505325" y="2667000"/>
            <a:ext cx="1314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курс и баланс</a:t>
            </a:r>
          </a:p>
        </p:txBody>
      </p:sp>
      <p:cxnSp>
        <p:nvCxnSpPr>
          <p:cNvPr id="64" name="Straight Arrow Connector 63"/>
          <p:cNvCxnSpPr>
            <a:stCxn id="11" idx="3"/>
            <a:endCxn id="16" idx="1"/>
          </p:cNvCxnSpPr>
          <p:nvPr/>
        </p:nvCxnSpPr>
        <p:spPr>
          <a:xfrm>
            <a:off x="4029075" y="2647950"/>
            <a:ext cx="342900" cy="0"/>
          </a:xfrm>
          <a:prstGeom prst="straightConnector1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871926B-E0C3-4DE5-B392-BDD4E141B386}"/>
              </a:ext>
            </a:extLst>
          </p:cNvPr>
          <p:cNvSpPr>
            <a:spLocks noGrp="1"/>
          </p:cNvSpPr>
          <p:nvPr/>
        </p:nvSpPr>
        <p:spPr>
          <a:xfrm>
            <a:off x="6296025" y="16573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E466FC-6D4B-4FF4-8463-A6D096F4F52E}"/>
              </a:ext>
            </a:extLst>
          </p:cNvPr>
          <p:cNvSpPr>
            <a:spLocks noGrp="1"/>
          </p:cNvSpPr>
          <p:nvPr/>
        </p:nvSpPr>
        <p:spPr>
          <a:xfrm>
            <a:off x="6296025" y="2114550"/>
            <a:ext cx="1581150" cy="1066800"/>
          </a:xfrm>
          <a:prstGeom prst="roundRect">
            <a:avLst>
              <a:gd name="adj" fmla="val 7143"/>
            </a:avLst>
          </a:prstGeom>
          <a:solidFill>
            <a:srgbClr val="121415"/>
          </a:solidFill>
          <a:ln w="9525">
            <a:solidFill>
              <a:srgbClr val="33363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80BF51-CDD0-4336-95D2-CD25BF9D0870}"/>
              </a:ext>
            </a:extLst>
          </p:cNvPr>
          <p:cNvSpPr>
            <a:spLocks noGrp="1"/>
          </p:cNvSpPr>
          <p:nvPr/>
        </p:nvSpPr>
        <p:spPr>
          <a:xfrm>
            <a:off x="6438900" y="230505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5D6206-A6F3-47A2-B88C-2C91E498615D}"/>
              </a:ext>
            </a:extLst>
          </p:cNvPr>
          <p:cNvSpPr>
            <a:spLocks noGrp="1"/>
          </p:cNvSpPr>
          <p:nvPr/>
        </p:nvSpPr>
        <p:spPr>
          <a:xfrm>
            <a:off x="6429375" y="2667000"/>
            <a:ext cx="1314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игра, P2P, чат</a:t>
            </a:r>
          </a:p>
        </p:txBody>
      </p:sp>
      <p:cxnSp>
        <p:nvCxnSpPr>
          <p:cNvPr id="69" name="Straight Arrow Connector 68"/>
          <p:cNvCxnSpPr>
            <a:stCxn id="16" idx="3"/>
            <a:endCxn id="21" idx="1"/>
          </p:cNvCxnSpPr>
          <p:nvPr/>
        </p:nvCxnSpPr>
        <p:spPr>
          <a:xfrm>
            <a:off x="5953125" y="2647950"/>
            <a:ext cx="342900" cy="0"/>
          </a:xfrm>
          <a:prstGeom prst="straightConnector1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DD14081-B252-467B-996E-20D59F1005B6}"/>
              </a:ext>
            </a:extLst>
          </p:cNvPr>
          <p:cNvSpPr>
            <a:spLocks noGrp="1"/>
          </p:cNvSpPr>
          <p:nvPr/>
        </p:nvSpPr>
        <p:spPr>
          <a:xfrm>
            <a:off x="8220075" y="16573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9923E11-E467-425B-9248-77E0FA05D21C}"/>
              </a:ext>
            </a:extLst>
          </p:cNvPr>
          <p:cNvSpPr>
            <a:spLocks noGrp="1"/>
          </p:cNvSpPr>
          <p:nvPr/>
        </p:nvSpPr>
        <p:spPr>
          <a:xfrm>
            <a:off x="8220075" y="2114550"/>
            <a:ext cx="1581150" cy="1066800"/>
          </a:xfrm>
          <a:prstGeom prst="roundRect">
            <a:avLst>
              <a:gd name="adj" fmla="val 7143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F33BE-6A92-4C5E-B633-4EAECCC28302}"/>
              </a:ext>
            </a:extLst>
          </p:cNvPr>
          <p:cNvSpPr>
            <a:spLocks noGrp="1"/>
          </p:cNvSpPr>
          <p:nvPr/>
        </p:nvSpPr>
        <p:spPr>
          <a:xfrm>
            <a:off x="8362950" y="230505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SETTLEMENT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E353B7-1926-4FDE-8445-6F5A62D6DF0C}"/>
              </a:ext>
            </a:extLst>
          </p:cNvPr>
          <p:cNvSpPr>
            <a:spLocks noGrp="1"/>
          </p:cNvSpPr>
          <p:nvPr/>
        </p:nvSpPr>
        <p:spPr>
          <a:xfrm>
            <a:off x="8353425" y="2667000"/>
            <a:ext cx="1314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сервер меняет ledger</a:t>
            </a:r>
          </a:p>
        </p:txBody>
      </p:sp>
      <p:cxnSp>
        <p:nvCxnSpPr>
          <p:cNvPr id="74" name="Straight Arrow Connector 73"/>
          <p:cNvCxnSpPr>
            <a:stCxn id="21" idx="3"/>
            <a:endCxn id="26" idx="1"/>
          </p:cNvCxnSpPr>
          <p:nvPr/>
        </p:nvCxnSpPr>
        <p:spPr>
          <a:xfrm>
            <a:off x="7877175" y="2647950"/>
            <a:ext cx="342900" cy="0"/>
          </a:xfrm>
          <a:prstGeom prst="straightConnector1">
            <a:avLst/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678C5CC-13A2-4391-B62D-0E095BDA06F1}"/>
              </a:ext>
            </a:extLst>
          </p:cNvPr>
          <p:cNvSpPr>
            <a:spLocks noGrp="1"/>
          </p:cNvSpPr>
          <p:nvPr/>
        </p:nvSpPr>
        <p:spPr>
          <a:xfrm>
            <a:off x="10144125" y="16573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2BBDCBC-6423-46A2-9EBA-6B9C37AE0C1B}"/>
              </a:ext>
            </a:extLst>
          </p:cNvPr>
          <p:cNvSpPr>
            <a:spLocks noGrp="1"/>
          </p:cNvSpPr>
          <p:nvPr/>
        </p:nvSpPr>
        <p:spPr>
          <a:xfrm>
            <a:off x="10144125" y="2114550"/>
            <a:ext cx="1581150" cy="1066800"/>
          </a:xfrm>
          <a:prstGeom prst="roundRect">
            <a:avLst>
              <a:gd name="adj" fmla="val 7143"/>
            </a:avLst>
          </a:prstGeom>
          <a:solidFill>
            <a:srgbClr val="121415"/>
          </a:solidFill>
          <a:ln w="9525">
            <a:solidFill>
              <a:srgbClr val="33363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5791EF-AEF4-467B-BBEC-A444B0179FF0}"/>
              </a:ext>
            </a:extLst>
          </p:cNvPr>
          <p:cNvSpPr>
            <a:spLocks noGrp="1"/>
          </p:cNvSpPr>
          <p:nvPr/>
        </p:nvSpPr>
        <p:spPr>
          <a:xfrm>
            <a:off x="10287000" y="230505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ВОЗВРАТ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2C1D59-6395-4F24-9193-42BDDE35CBB5}"/>
              </a:ext>
            </a:extLst>
          </p:cNvPr>
          <p:cNvSpPr>
            <a:spLocks noGrp="1"/>
          </p:cNvSpPr>
          <p:nvPr/>
        </p:nvSpPr>
        <p:spPr>
          <a:xfrm>
            <a:off x="10277475" y="2667000"/>
            <a:ext cx="13144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новый раунд</a:t>
            </a:r>
          </a:p>
        </p:txBody>
      </p:sp>
      <p:cxnSp>
        <p:nvCxnSpPr>
          <p:cNvPr id="79" name="Straight Arrow Connector 78"/>
          <p:cNvCxnSpPr>
            <a:stCxn id="26" idx="3"/>
            <a:endCxn id="31" idx="1"/>
          </p:cNvCxnSpPr>
          <p:nvPr/>
        </p:nvCxnSpPr>
        <p:spPr>
          <a:xfrm>
            <a:off x="9801225" y="2647950"/>
            <a:ext cx="342900" cy="0"/>
          </a:xfrm>
          <a:prstGeom prst="straightConnector1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F84B0B7-3EDB-4316-ACAD-F3EB1F40BBF0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Развилки после терминала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695F19-F021-4AAB-A1C4-E6E46E9C26EA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Слоп-угадайка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61E7A7-DB6C-4AE9-8C98-14B45BFCCDE3}"/>
              </a:ext>
            </a:extLst>
          </p:cNvPr>
          <p:cNvSpPr>
            <a:spLocks noGrp="1"/>
          </p:cNvSpPr>
          <p:nvPr/>
        </p:nvSpPr>
        <p:spPr>
          <a:xfrm>
            <a:off x="666750" y="47910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сервер проверяет ответ и начисляет +1 КУМ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D56764-8B95-470E-A196-1112F9035369}"/>
              </a:ext>
            </a:extLst>
          </p:cNvPr>
          <p:cNvSpPr>
            <a:spLocks noGrp="1"/>
          </p:cNvSpPr>
          <p:nvPr/>
        </p:nvSpPr>
        <p:spPr>
          <a:xfrm>
            <a:off x="3733800" y="44767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Мем-рулетка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AC98BBC-DAC7-4CEC-8835-9A3DFE21FF27}"/>
              </a:ext>
            </a:extLst>
          </p:cNvPr>
          <p:cNvSpPr>
            <a:spLocks noGrp="1"/>
          </p:cNvSpPr>
          <p:nvPr/>
        </p:nvSpPr>
        <p:spPr>
          <a:xfrm>
            <a:off x="3733800" y="47910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сервер фиксирует случайный исход до анимации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7B14EE-947A-4F3E-BA94-081E1D33D39C}"/>
              </a:ext>
            </a:extLst>
          </p:cNvPr>
          <p:cNvSpPr>
            <a:spLocks noGrp="1"/>
          </p:cNvSpPr>
          <p:nvPr/>
        </p:nvSpPr>
        <p:spPr>
          <a:xfrm>
            <a:off x="6800850" y="44767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Слоп-дуэль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138000-8CDF-4AE9-85D0-6D9EF71B3EE8}"/>
              </a:ext>
            </a:extLst>
          </p:cNvPr>
          <p:cNvSpPr>
            <a:spLocks noGrp="1"/>
          </p:cNvSpPr>
          <p:nvPr/>
        </p:nvSpPr>
        <p:spPr>
          <a:xfrm>
            <a:off x="6800850" y="47910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WebSocket синхронизирует игроков и зрителей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846F40-A80B-41BD-8AA1-0F28369FFE56}"/>
              </a:ext>
            </a:extLst>
          </p:cNvPr>
          <p:cNvSpPr>
            <a:spLocks noGrp="1"/>
          </p:cNvSpPr>
          <p:nvPr/>
        </p:nvSpPr>
        <p:spPr>
          <a:xfrm>
            <a:off x="9810750" y="44767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P2P и кредит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C8D16C-F1EB-4851-9D09-C977A08D26A9}"/>
              </a:ext>
            </a:extLst>
          </p:cNvPr>
          <p:cNvSpPr>
            <a:spLocks noGrp="1"/>
          </p:cNvSpPr>
          <p:nvPr/>
        </p:nvSpPr>
        <p:spPr>
          <a:xfrm>
            <a:off x="9810750" y="47910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резерв, сделка, долг и срок живут на сервере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520A91-F1FD-4745-ACA6-EAF0053F61F4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1085850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DE47DE-9319-4BEF-9859-5725020F00DA}"/>
              </a:ext>
            </a:extLst>
          </p:cNvPr>
          <p:cNvSpPr>
            <a:spLocks noGrp="1"/>
          </p:cNvSpPr>
          <p:nvPr/>
        </p:nvSpPr>
        <p:spPr>
          <a:xfrm>
            <a:off x="666750" y="589597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При потере сети раунд восстанавливается по ID. Повторный запрос не дублирует выплату. Истёкший раунд показывает понятный статус.</a:t>
            </a:r>
          </a:p>
        </p:txBody>
      </p:sp>
    </p:spTree>
    <p:extLst>
      <p:ext uri="{BB962C8B-B14F-4D97-AF65-F5344CB8AC3E}">
        <p14:creationId xmlns:p14="http://schemas.microsoft.com/office/powerpoint/2010/main" val="17546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8F7A74-5910-41B8-AB9D-477BE29AE1A0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6A916-9D86-4AA8-8E9C-43054ECC3332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Игровые механики и проверяемые правила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FE834A-5F64-4ABE-8874-47AFB7076791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AD55C-D9B2-4470-9CA7-2E6F7F78034A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3AF6D-A3E3-4FCA-86B8-1A4D1E05F45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552450" y="1257300"/>
          <a:ext cx="11087100" cy="429577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Механика</a:t>
                      </a:r>
                    </a:p>
                  </a:txBody>
                  <a:tcPr marL="95250" marR="95250" marT="66675" marB="66675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Действие пользователя</a:t>
                      </a:r>
                    </a:p>
                  </a:txBody>
                  <a:tcPr marL="95250" marR="95250" marT="66675" marB="66675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Решение сервера</a:t>
                      </a:r>
                    </a:p>
                  </a:txBody>
                  <a:tcPr marL="95250" marR="95250" marT="66675" marB="66675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состояния</a:t>
                      </a:r>
                    </a:p>
                  </a:txBody>
                  <a:tcPr marL="95250" marR="95250" marT="66675" marB="66675" anchor="ctr">
                    <a:solidFill>
                      <a:srgbClr val="D9F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Слоп-угадайка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Вводит название изображения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Fuzzy match + синонимы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+1 КУМ или новый раунд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Мем-рулетка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Загружает или выбирает мем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Число 1–10 фиксируется до анимации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Начисление или списание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Слоп-дуэль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Отвечает и голосует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Deadline, голоса, atomic settlement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Банк победителю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P2P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Создаёт или принимает ордер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Резервирует баланс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Settlement или отмена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Кредит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Подтверждает сумму и срок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Создаёт долг и таймер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Погашение или статус SCAM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9B18F67-69A2-4359-A2A1-A0A72B88115A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Общее правило: клиент показывает результат, но никогда не рассчитывает баланс как источник истины.</a:t>
            </a:r>
          </a:p>
        </p:txBody>
      </p:sp>
    </p:spTree>
    <p:extLst>
      <p:ext uri="{BB962C8B-B14F-4D97-AF65-F5344CB8AC3E}">
        <p14:creationId xmlns:p14="http://schemas.microsoft.com/office/powerpoint/2010/main" val="191550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38E38FF-DC26-4279-80E4-6D7EE0039443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A80BB-2DF0-4AF5-9C16-4F6DA7DFDB42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Слоп-угадайка: данные по шагам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4BE33E-540A-4112-98B6-5E0E491409C9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C8C8C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5BAB40-44CA-438F-A996-3485BE8AEC86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787A7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87A76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161A9-FAF9-485A-9854-731D47A0082F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787A7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87A76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6EB8C4-FA5D-4A79-8296-78435DC85FEB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524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ИГРОК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4D0278-61E0-48B4-A496-4896D7F25D0B}"/>
              </a:ext>
            </a:extLst>
          </p:cNvPr>
          <p:cNvSpPr>
            <a:spLocks noGrp="1"/>
          </p:cNvSpPr>
          <p:nvPr/>
        </p:nvSpPr>
        <p:spPr>
          <a:xfrm>
            <a:off x="3000375" y="1219200"/>
            <a:ext cx="1524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673748-85DB-4E4F-B188-41F8D937D7E5}"/>
              </a:ext>
            </a:extLst>
          </p:cNvPr>
          <p:cNvSpPr>
            <a:spLocks noGrp="1"/>
          </p:cNvSpPr>
          <p:nvPr/>
        </p:nvSpPr>
        <p:spPr>
          <a:xfrm>
            <a:off x="5334000" y="1219200"/>
            <a:ext cx="1524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NESTJS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FF86E7-23AA-4249-BD8D-FA87FCF72C52}"/>
              </a:ext>
            </a:extLst>
          </p:cNvPr>
          <p:cNvSpPr>
            <a:spLocks noGrp="1"/>
          </p:cNvSpPr>
          <p:nvPr/>
        </p:nvSpPr>
        <p:spPr>
          <a:xfrm>
            <a:off x="7667625" y="1219200"/>
            <a:ext cx="1524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SPRING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F1AE1E-A9E8-46F0-892F-64F5B57407FE}"/>
              </a:ext>
            </a:extLst>
          </p:cNvPr>
          <p:cNvSpPr>
            <a:spLocks noGrp="1"/>
          </p:cNvSpPr>
          <p:nvPr/>
        </p:nvSpPr>
        <p:spPr>
          <a:xfrm>
            <a:off x="10001250" y="1219200"/>
            <a:ext cx="1524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0B0C0D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0C0D"/>
                </a:solidFill>
                <a:latin typeface="Arial"/>
                <a:ea typeface="Arial"/>
                <a:cs typeface="Arial"/>
              </a:rPr>
              <a:t>POSTGRES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13A17E-823E-4D0F-9095-947DE9C10CD3}"/>
              </a:ext>
            </a:extLst>
          </p:cNvPr>
          <p:cNvSpPr>
            <a:spLocks noGrp="1"/>
          </p:cNvSpPr>
          <p:nvPr/>
        </p:nvSpPr>
        <p:spPr>
          <a:xfrm>
            <a:off x="1419225" y="1714500"/>
            <a:ext cx="9525" cy="4114800"/>
          </a:xfrm>
          <a:prstGeom prst="rect">
            <a:avLst/>
          </a:prstGeom>
          <a:solidFill>
            <a:srgbClr val="BFC0B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02388C-56DB-47C2-981B-B41EB9029BB7}"/>
              </a:ext>
            </a:extLst>
          </p:cNvPr>
          <p:cNvSpPr>
            <a:spLocks noGrp="1"/>
          </p:cNvSpPr>
          <p:nvPr/>
        </p:nvSpPr>
        <p:spPr>
          <a:xfrm>
            <a:off x="3752850" y="1714500"/>
            <a:ext cx="9525" cy="4114800"/>
          </a:xfrm>
          <a:prstGeom prst="rect">
            <a:avLst/>
          </a:prstGeom>
          <a:solidFill>
            <a:srgbClr val="BFC0B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0648BF-288D-43E6-A2B9-8E5551864F9E}"/>
              </a:ext>
            </a:extLst>
          </p:cNvPr>
          <p:cNvSpPr>
            <a:spLocks noGrp="1"/>
          </p:cNvSpPr>
          <p:nvPr/>
        </p:nvSpPr>
        <p:spPr>
          <a:xfrm>
            <a:off x="6086475" y="1714500"/>
            <a:ext cx="9525" cy="4114800"/>
          </a:xfrm>
          <a:prstGeom prst="rect">
            <a:avLst/>
          </a:prstGeom>
          <a:solidFill>
            <a:srgbClr val="BFC0B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A76DE3-DA75-4403-8719-DAB41E1D0D7C}"/>
              </a:ext>
            </a:extLst>
          </p:cNvPr>
          <p:cNvSpPr>
            <a:spLocks noGrp="1"/>
          </p:cNvSpPr>
          <p:nvPr/>
        </p:nvSpPr>
        <p:spPr>
          <a:xfrm>
            <a:off x="8420100" y="1714500"/>
            <a:ext cx="9525" cy="4114800"/>
          </a:xfrm>
          <a:prstGeom prst="rect">
            <a:avLst/>
          </a:prstGeom>
          <a:solidFill>
            <a:srgbClr val="BFC0B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9A0AE-4521-4E54-B972-AD9C8C9CB414}"/>
              </a:ext>
            </a:extLst>
          </p:cNvPr>
          <p:cNvSpPr>
            <a:spLocks noGrp="1"/>
          </p:cNvSpPr>
          <p:nvPr/>
        </p:nvSpPr>
        <p:spPr>
          <a:xfrm>
            <a:off x="10753725" y="1714500"/>
            <a:ext cx="9525" cy="4114800"/>
          </a:xfrm>
          <a:prstGeom prst="rect">
            <a:avLst/>
          </a:prstGeom>
          <a:solidFill>
            <a:srgbClr val="BFC0B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E650B4-9A58-46EE-9F62-6008539112FF}"/>
              </a:ext>
            </a:extLst>
          </p:cNvPr>
          <p:cNvSpPr>
            <a:spLocks noGrp="1"/>
          </p:cNvSpPr>
          <p:nvPr/>
        </p:nvSpPr>
        <p:spPr>
          <a:xfrm>
            <a:off x="1428750" y="2000250"/>
            <a:ext cx="2333625" cy="19050"/>
          </a:xfrm>
          <a:prstGeom prst="rect">
            <a:avLst/>
          </a:prstGeom>
          <a:solidFill>
            <a:srgbClr val="D9FF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C1D8E9-0CCF-48DD-BDF5-092D8101BCC6}"/>
              </a:ext>
            </a:extLst>
          </p:cNvPr>
          <p:cNvSpPr>
            <a:spLocks noGrp="1"/>
          </p:cNvSpPr>
          <p:nvPr/>
        </p:nvSpPr>
        <p:spPr>
          <a:xfrm>
            <a:off x="3619500" y="184785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8692F4-577E-4E0E-B900-D44015B918A1}"/>
              </a:ext>
            </a:extLst>
          </p:cNvPr>
          <p:cNvSpPr>
            <a:spLocks noGrp="1"/>
          </p:cNvSpPr>
          <p:nvPr/>
        </p:nvSpPr>
        <p:spPr>
          <a:xfrm>
            <a:off x="1504950" y="1762125"/>
            <a:ext cx="21812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Начать раунд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7D6428-0E1D-43A2-80FF-9C822C9BA304}"/>
              </a:ext>
            </a:extLst>
          </p:cNvPr>
          <p:cNvSpPr>
            <a:spLocks noGrp="1"/>
          </p:cNvSpPr>
          <p:nvPr/>
        </p:nvSpPr>
        <p:spPr>
          <a:xfrm>
            <a:off x="3762375" y="2457450"/>
            <a:ext cx="2333625" cy="19050"/>
          </a:xfrm>
          <a:prstGeom prst="rect">
            <a:avLst/>
          </a:prstGeom>
          <a:solidFill>
            <a:srgbClr val="D9FF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8E6DEE-ED09-4C6F-95F2-3037D3F36E4B}"/>
              </a:ext>
            </a:extLst>
          </p:cNvPr>
          <p:cNvSpPr>
            <a:spLocks noGrp="1"/>
          </p:cNvSpPr>
          <p:nvPr/>
        </p:nvSpPr>
        <p:spPr>
          <a:xfrm>
            <a:off x="5953125" y="230505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0B0A28-E55F-4005-BAC6-EAF3737F23C0}"/>
              </a:ext>
            </a:extLst>
          </p:cNvPr>
          <p:cNvSpPr>
            <a:spLocks noGrp="1"/>
          </p:cNvSpPr>
          <p:nvPr/>
        </p:nvSpPr>
        <p:spPr>
          <a:xfrm>
            <a:off x="3838575" y="2219325"/>
            <a:ext cx="21812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POST /guess-rounds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7A0FD3-3188-4690-B6D3-1B3370A3FA0F}"/>
              </a:ext>
            </a:extLst>
          </p:cNvPr>
          <p:cNvSpPr>
            <a:spLocks noGrp="1"/>
          </p:cNvSpPr>
          <p:nvPr/>
        </p:nvSpPr>
        <p:spPr>
          <a:xfrm>
            <a:off x="6096000" y="2914650"/>
            <a:ext cx="2333625" cy="19050"/>
          </a:xfrm>
          <a:prstGeom prst="rect">
            <a:avLst/>
          </a:prstGeom>
          <a:solidFill>
            <a:srgbClr val="D9FF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C27C72-D27B-49AB-AADF-C72E2AA2C22A}"/>
              </a:ext>
            </a:extLst>
          </p:cNvPr>
          <p:cNvSpPr>
            <a:spLocks noGrp="1"/>
          </p:cNvSpPr>
          <p:nvPr/>
        </p:nvSpPr>
        <p:spPr>
          <a:xfrm>
            <a:off x="8286750" y="276225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1E81EF-25DB-4E15-9F15-37EEC27271D6}"/>
              </a:ext>
            </a:extLst>
          </p:cNvPr>
          <p:cNvSpPr>
            <a:spLocks noGrp="1"/>
          </p:cNvSpPr>
          <p:nvPr/>
        </p:nvSpPr>
        <p:spPr>
          <a:xfrm>
            <a:off x="6172200" y="2676525"/>
            <a:ext cx="21812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createRound(userId)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7A7B93-A901-4763-A494-D8202C33ECF7}"/>
              </a:ext>
            </a:extLst>
          </p:cNvPr>
          <p:cNvSpPr>
            <a:spLocks noGrp="1"/>
          </p:cNvSpPr>
          <p:nvPr/>
        </p:nvSpPr>
        <p:spPr>
          <a:xfrm>
            <a:off x="8429625" y="3371850"/>
            <a:ext cx="2333625" cy="19050"/>
          </a:xfrm>
          <a:prstGeom prst="rect">
            <a:avLst/>
          </a:prstGeom>
          <a:solidFill>
            <a:srgbClr val="D9FF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F85D9B-844E-4E23-A01E-AE1C4443BAD6}"/>
              </a:ext>
            </a:extLst>
          </p:cNvPr>
          <p:cNvSpPr>
            <a:spLocks noGrp="1"/>
          </p:cNvSpPr>
          <p:nvPr/>
        </p:nvSpPr>
        <p:spPr>
          <a:xfrm>
            <a:off x="10620375" y="321945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1A27DF-E78F-4AED-88A8-3BA948C58FF9}"/>
              </a:ext>
            </a:extLst>
          </p:cNvPr>
          <p:cNvSpPr>
            <a:spLocks noGrp="1"/>
          </p:cNvSpPr>
          <p:nvPr/>
        </p:nvSpPr>
        <p:spPr>
          <a:xfrm>
            <a:off x="8505825" y="3133725"/>
            <a:ext cx="21812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reserve prompt + deadline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C08D51-5B78-4358-9014-33B4186F4F72}"/>
              </a:ext>
            </a:extLst>
          </p:cNvPr>
          <p:cNvSpPr>
            <a:spLocks noGrp="1"/>
          </p:cNvSpPr>
          <p:nvPr/>
        </p:nvSpPr>
        <p:spPr>
          <a:xfrm>
            <a:off x="3762375" y="3905250"/>
            <a:ext cx="4667250" cy="19050"/>
          </a:xfrm>
          <a:prstGeom prst="rect">
            <a:avLst/>
          </a:prstGeom>
          <a:solidFill>
            <a:srgbClr val="D9FF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C784EF-A7FF-4563-ABF6-83676373CE31}"/>
              </a:ext>
            </a:extLst>
          </p:cNvPr>
          <p:cNvSpPr>
            <a:spLocks noGrp="1"/>
          </p:cNvSpPr>
          <p:nvPr/>
        </p:nvSpPr>
        <p:spPr>
          <a:xfrm>
            <a:off x="3790950" y="375285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AF25D4-DFC8-4A80-985B-95449E94B06C}"/>
              </a:ext>
            </a:extLst>
          </p:cNvPr>
          <p:cNvSpPr>
            <a:spLocks noGrp="1"/>
          </p:cNvSpPr>
          <p:nvPr/>
        </p:nvSpPr>
        <p:spPr>
          <a:xfrm>
            <a:off x="3838575" y="3667125"/>
            <a:ext cx="45148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roundId + image + expiresAt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443B17-6257-4356-B039-FE339495256F}"/>
              </a:ext>
            </a:extLst>
          </p:cNvPr>
          <p:cNvSpPr>
            <a:spLocks noGrp="1"/>
          </p:cNvSpPr>
          <p:nvPr/>
        </p:nvSpPr>
        <p:spPr>
          <a:xfrm>
            <a:off x="1428750" y="4495800"/>
            <a:ext cx="2333625" cy="19050"/>
          </a:xfrm>
          <a:prstGeom prst="rect">
            <a:avLst/>
          </a:prstGeom>
          <a:solidFill>
            <a:srgbClr val="D9FF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35FB40-F000-4FA4-A26A-BCDB8056A8D6}"/>
              </a:ext>
            </a:extLst>
          </p:cNvPr>
          <p:cNvSpPr>
            <a:spLocks noGrp="1"/>
          </p:cNvSpPr>
          <p:nvPr/>
        </p:nvSpPr>
        <p:spPr>
          <a:xfrm>
            <a:off x="3619500" y="434340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B708A7-84AE-4A3D-B4A1-E0FDDF87D889}"/>
              </a:ext>
            </a:extLst>
          </p:cNvPr>
          <p:cNvSpPr>
            <a:spLocks noGrp="1"/>
          </p:cNvSpPr>
          <p:nvPr/>
        </p:nvSpPr>
        <p:spPr>
          <a:xfrm>
            <a:off x="1504950" y="4257675"/>
            <a:ext cx="21812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Отправить ответ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28A49C-3674-4394-B8C4-61E17A55A7BF}"/>
              </a:ext>
            </a:extLst>
          </p:cNvPr>
          <p:cNvSpPr>
            <a:spLocks noGrp="1"/>
          </p:cNvSpPr>
          <p:nvPr/>
        </p:nvSpPr>
        <p:spPr>
          <a:xfrm>
            <a:off x="3762375" y="4953000"/>
            <a:ext cx="4667250" cy="19050"/>
          </a:xfrm>
          <a:prstGeom prst="rect">
            <a:avLst/>
          </a:prstGeom>
          <a:solidFill>
            <a:srgbClr val="FF51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C4FC24-9709-4059-A639-90551AD123B7}"/>
              </a:ext>
            </a:extLst>
          </p:cNvPr>
          <p:cNvSpPr>
            <a:spLocks noGrp="1"/>
          </p:cNvSpPr>
          <p:nvPr/>
        </p:nvSpPr>
        <p:spPr>
          <a:xfrm>
            <a:off x="8286750" y="480060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1F062B-9CC8-4056-A1A7-45D422A43801}"/>
              </a:ext>
            </a:extLst>
          </p:cNvPr>
          <p:cNvSpPr>
            <a:spLocks noGrp="1"/>
          </p:cNvSpPr>
          <p:nvPr/>
        </p:nvSpPr>
        <p:spPr>
          <a:xfrm>
            <a:off x="3838575" y="4714875"/>
            <a:ext cx="45148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answer + idempotency key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94865D-9877-4420-9246-B4BF432A95C5}"/>
              </a:ext>
            </a:extLst>
          </p:cNvPr>
          <p:cNvSpPr>
            <a:spLocks noGrp="1"/>
          </p:cNvSpPr>
          <p:nvPr/>
        </p:nvSpPr>
        <p:spPr>
          <a:xfrm>
            <a:off x="8429625" y="5410200"/>
            <a:ext cx="2333625" cy="19050"/>
          </a:xfrm>
          <a:prstGeom prst="rect">
            <a:avLst/>
          </a:prstGeom>
          <a:solidFill>
            <a:srgbClr val="FF51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1C0B05-2AAB-4CB2-980A-EDA1AD0DAB71}"/>
              </a:ext>
            </a:extLst>
          </p:cNvPr>
          <p:cNvSpPr>
            <a:spLocks noGrp="1"/>
          </p:cNvSpPr>
          <p:nvPr/>
        </p:nvSpPr>
        <p:spPr>
          <a:xfrm>
            <a:off x="10620375" y="525780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38FAB5-ED12-4AAB-B95D-2AB6FC868604}"/>
              </a:ext>
            </a:extLst>
          </p:cNvPr>
          <p:cNvSpPr>
            <a:spLocks noGrp="1"/>
          </p:cNvSpPr>
          <p:nvPr/>
        </p:nvSpPr>
        <p:spPr>
          <a:xfrm>
            <a:off x="8505825" y="5172075"/>
            <a:ext cx="21812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lock, match, ledger, close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466441-001C-411F-82F3-5AE1D999F944}"/>
              </a:ext>
            </a:extLst>
          </p:cNvPr>
          <p:cNvSpPr>
            <a:spLocks noGrp="1"/>
          </p:cNvSpPr>
          <p:nvPr/>
        </p:nvSpPr>
        <p:spPr>
          <a:xfrm>
            <a:off x="3762375" y="5867400"/>
            <a:ext cx="4667250" cy="19050"/>
          </a:xfrm>
          <a:prstGeom prst="rect">
            <a:avLst/>
          </a:prstGeom>
          <a:solidFill>
            <a:srgbClr val="FF51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557512-D5F4-4508-B83B-C36AE6CD5F80}"/>
              </a:ext>
            </a:extLst>
          </p:cNvPr>
          <p:cNvSpPr>
            <a:spLocks noGrp="1"/>
          </p:cNvSpPr>
          <p:nvPr/>
        </p:nvSpPr>
        <p:spPr>
          <a:xfrm>
            <a:off x="3790950" y="5715000"/>
            <a:ext cx="152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9FBA14-55BE-4718-8C2C-317BDEAB5BD1}"/>
              </a:ext>
            </a:extLst>
          </p:cNvPr>
          <p:cNvSpPr>
            <a:spLocks noGrp="1"/>
          </p:cNvSpPr>
          <p:nvPr/>
        </p:nvSpPr>
        <p:spPr>
          <a:xfrm>
            <a:off x="3838575" y="5629275"/>
            <a:ext cx="45148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score + outcome + balance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C7AAA8-D8F3-48A9-8401-0CC091F6238E}"/>
              </a:ext>
            </a:extLst>
          </p:cNvPr>
          <p:cNvSpPr>
            <a:spLocks noGrp="1"/>
          </p:cNvSpPr>
          <p:nvPr/>
        </p:nvSpPr>
        <p:spPr>
          <a:xfrm>
            <a:off x="666750" y="6105525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Скрытый ответ и словарь синонимов не уходят в браузер. Повторная отправка возвращает прежний результат без второй награды.</a:t>
            </a:r>
          </a:p>
        </p:txBody>
      </p:sp>
    </p:spTree>
    <p:extLst>
      <p:ext uri="{BB962C8B-B14F-4D97-AF65-F5344CB8AC3E}">
        <p14:creationId xmlns:p14="http://schemas.microsoft.com/office/powerpoint/2010/main" val="48413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0089F3F7-3B21-4EF6-B1D5-6C63C306E226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03DF8-E84C-4633-9759-913091E2712C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Ключевые ветки и ошибочные сценарии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1BDED3-9138-4DEE-BA6C-03CFEE427884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52ADA2-6CF5-4D91-95FB-A51846DF78F6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349EAA-95C6-4A0D-B8CC-FD0EDAF5EA1E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A71E3-ED7F-43F9-9313-B0F486366858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МЕМ-РУЛЕТКА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7704F4-F947-46ED-802C-2B173181D225}"/>
              </a:ext>
            </a:extLst>
          </p:cNvPr>
          <p:cNvSpPr>
            <a:spLocks noGrp="1"/>
          </p:cNvSpPr>
          <p:nvPr/>
        </p:nvSpPr>
        <p:spPr>
          <a:xfrm>
            <a:off x="2190750" y="13525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173BA-59F6-4641-8A28-C02D9D56D1D1}"/>
              </a:ext>
            </a:extLst>
          </p:cNvPr>
          <p:cNvSpPr>
            <a:spLocks noGrp="1"/>
          </p:cNvSpPr>
          <p:nvPr/>
        </p:nvSpPr>
        <p:spPr>
          <a:xfrm>
            <a:off x="2286000" y="15049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Показать риск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313B11-F091-4B21-A314-2C7DEA2EB723}"/>
              </a:ext>
            </a:extLst>
          </p:cNvPr>
          <p:cNvSpPr>
            <a:spLocks noGrp="1"/>
          </p:cNvSpPr>
          <p:nvPr/>
        </p:nvSpPr>
        <p:spPr>
          <a:xfrm>
            <a:off x="4038600" y="13525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1621DE-9ADE-4899-B43B-78E8A2C0DE86}"/>
              </a:ext>
            </a:extLst>
          </p:cNvPr>
          <p:cNvSpPr>
            <a:spLocks noGrp="1"/>
          </p:cNvSpPr>
          <p:nvPr/>
        </p:nvSpPr>
        <p:spPr>
          <a:xfrm>
            <a:off x="4133850" y="15049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Commit результата</a:t>
            </a:r>
          </a:p>
        </p:txBody>
      </p:sp>
      <p:cxnSp>
        <p:nvCxnSpPr>
          <p:cNvPr id="76" name="Straight Arrow Connector 75"/>
          <p:cNvCxnSpPr>
            <a:stCxn id="7" idx="3"/>
            <a:endCxn id="9" idx="1"/>
          </p:cNvCxnSpPr>
          <p:nvPr/>
        </p:nvCxnSpPr>
        <p:spPr>
          <a:xfrm>
            <a:off x="3762375" y="1704975"/>
            <a:ext cx="276225" cy="0"/>
          </a:xfrm>
          <a:prstGeom prst="straightConnector1">
            <a:avLst/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5BC588-ECF1-4B30-B70A-3E50FE69573D}"/>
              </a:ext>
            </a:extLst>
          </p:cNvPr>
          <p:cNvSpPr>
            <a:spLocks noGrp="1"/>
          </p:cNvSpPr>
          <p:nvPr/>
        </p:nvSpPr>
        <p:spPr>
          <a:xfrm>
            <a:off x="5886450" y="13525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0D8770-7977-4AF0-90AA-4087F0D8D659}"/>
              </a:ext>
            </a:extLst>
          </p:cNvPr>
          <p:cNvSpPr>
            <a:spLocks noGrp="1"/>
          </p:cNvSpPr>
          <p:nvPr/>
        </p:nvSpPr>
        <p:spPr>
          <a:xfrm>
            <a:off x="5981700" y="15049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Canvas + WebAudio</a:t>
            </a:r>
          </a:p>
        </p:txBody>
      </p:sp>
      <p:cxnSp>
        <p:nvCxnSpPr>
          <p:cNvPr id="79" name="Straight Arrow Connector 78"/>
          <p:cNvCxnSpPr>
            <a:stCxn id="9" idx="3"/>
            <a:endCxn id="12" idx="1"/>
          </p:cNvCxnSpPr>
          <p:nvPr/>
        </p:nvCxnSpPr>
        <p:spPr>
          <a:xfrm>
            <a:off x="5610225" y="1704975"/>
            <a:ext cx="276225" cy="0"/>
          </a:xfrm>
          <a:prstGeom prst="straightConnector1">
            <a:avLst/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6E783D-9124-4894-9A0D-7FFCDBAB4AF4}"/>
              </a:ext>
            </a:extLst>
          </p:cNvPr>
          <p:cNvSpPr>
            <a:spLocks noGrp="1"/>
          </p:cNvSpPr>
          <p:nvPr/>
        </p:nvSpPr>
        <p:spPr>
          <a:xfrm>
            <a:off x="7734300" y="13525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2E04C-2609-4018-9E4A-BB3BDE6EDF54}"/>
              </a:ext>
            </a:extLst>
          </p:cNvPr>
          <p:cNvSpPr>
            <a:spLocks noGrp="1"/>
          </p:cNvSpPr>
          <p:nvPr/>
        </p:nvSpPr>
        <p:spPr>
          <a:xfrm>
            <a:off x="7829550" y="15049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Ledger settlement</a:t>
            </a:r>
          </a:p>
        </p:txBody>
      </p:sp>
      <p:cxnSp>
        <p:nvCxnSpPr>
          <p:cNvPr id="82" name="Straight Arrow Connector 81"/>
          <p:cNvCxnSpPr>
            <a:stCxn id="12" idx="3"/>
            <a:endCxn id="15" idx="1"/>
          </p:cNvCxnSpPr>
          <p:nvPr/>
        </p:nvCxnSpPr>
        <p:spPr>
          <a:xfrm>
            <a:off x="7458075" y="1704975"/>
            <a:ext cx="276225" cy="0"/>
          </a:xfrm>
          <a:prstGeom prst="straightConnector1">
            <a:avLst/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1A3DA1-2C0D-4CC8-AEC7-D0F017AD8642}"/>
              </a:ext>
            </a:extLst>
          </p:cNvPr>
          <p:cNvSpPr>
            <a:spLocks noGrp="1"/>
          </p:cNvSpPr>
          <p:nvPr/>
        </p:nvSpPr>
        <p:spPr>
          <a:xfrm>
            <a:off x="9582150" y="13525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5B5E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1DF247-8F56-4FDE-B746-A85BA9477D42}"/>
              </a:ext>
            </a:extLst>
          </p:cNvPr>
          <p:cNvSpPr>
            <a:spLocks noGrp="1"/>
          </p:cNvSpPr>
          <p:nvPr/>
        </p:nvSpPr>
        <p:spPr>
          <a:xfrm>
            <a:off x="9677400" y="15049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Ошибка сети: запросить итог по roundId</a:t>
            </a:r>
          </a:p>
        </p:txBody>
      </p:sp>
      <p:cxnSp>
        <p:nvCxnSpPr>
          <p:cNvPr id="85" name="Straight Arrow Connector 84"/>
          <p:cNvCxnSpPr>
            <a:stCxn id="15" idx="3"/>
            <a:endCxn id="18" idx="1"/>
          </p:cNvCxnSpPr>
          <p:nvPr/>
        </p:nvCxnSpPr>
        <p:spPr>
          <a:xfrm>
            <a:off x="9305925" y="1704975"/>
            <a:ext cx="276225" cy="0"/>
          </a:xfrm>
          <a:prstGeom prst="straightConnector1">
            <a:avLst/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EB9E38E-D68A-42D2-B231-6A04C6CA89CC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86A8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6A8FF"/>
                </a:solidFill>
                <a:latin typeface="Arial"/>
                <a:ea typeface="Arial"/>
                <a:cs typeface="Arial"/>
              </a:rPr>
              <a:t>СЛОП-ДУЭЛЬ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D2DADB1-DC66-4235-BCF8-B7C30C7B632E}"/>
              </a:ext>
            </a:extLst>
          </p:cNvPr>
          <p:cNvSpPr>
            <a:spLocks noGrp="1"/>
          </p:cNvSpPr>
          <p:nvPr/>
        </p:nvSpPr>
        <p:spPr>
          <a:xfrm>
            <a:off x="2190750" y="25527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86A8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3F6342-CA5E-4470-9D7C-AE438F17A4CD}"/>
              </a:ext>
            </a:extLst>
          </p:cNvPr>
          <p:cNvSpPr>
            <a:spLocks noGrp="1"/>
          </p:cNvSpPr>
          <p:nvPr/>
        </p:nvSpPr>
        <p:spPr>
          <a:xfrm>
            <a:off x="2286000" y="27051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Matchmaking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B1C318-808E-4A29-B4B1-A1CBB38815E3}"/>
              </a:ext>
            </a:extLst>
          </p:cNvPr>
          <p:cNvSpPr>
            <a:spLocks noGrp="1"/>
          </p:cNvSpPr>
          <p:nvPr/>
        </p:nvSpPr>
        <p:spPr>
          <a:xfrm>
            <a:off x="4038600" y="25527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86A8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53E2F3-3765-43DC-B8D5-79784BD2C277}"/>
              </a:ext>
            </a:extLst>
          </p:cNvPr>
          <p:cNvSpPr>
            <a:spLocks noGrp="1"/>
          </p:cNvSpPr>
          <p:nvPr/>
        </p:nvSpPr>
        <p:spPr>
          <a:xfrm>
            <a:off x="4133850" y="27051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Общий server deadline</a:t>
            </a:r>
          </a:p>
        </p:txBody>
      </p:sp>
      <p:cxnSp>
        <p:nvCxnSpPr>
          <p:cNvPr id="91" name="Straight Arrow Connector 90"/>
          <p:cNvCxnSpPr>
            <a:stCxn id="22" idx="3"/>
            <a:endCxn id="24" idx="1"/>
          </p:cNvCxnSpPr>
          <p:nvPr/>
        </p:nvCxnSpPr>
        <p:spPr>
          <a:xfrm>
            <a:off x="3762375" y="2905125"/>
            <a:ext cx="276225" cy="0"/>
          </a:xfrm>
          <a:prstGeom prst="straightConnector1">
            <a:avLst/>
          </a:prstGeom>
          <a:ln w="19050">
            <a:solidFill>
              <a:srgbClr val="86A8FF"/>
            </a:solidFill>
            <a:prstDash val="solid"/>
            <a:tailEnd type="arrow" w="sm" len="sm"/>
          </a:ln>
        </p:spPr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329B78F-CF27-4674-845A-6E7E87E1563D}"/>
              </a:ext>
            </a:extLst>
          </p:cNvPr>
          <p:cNvSpPr>
            <a:spLocks noGrp="1"/>
          </p:cNvSpPr>
          <p:nvPr/>
        </p:nvSpPr>
        <p:spPr>
          <a:xfrm>
            <a:off x="5886450" y="25527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86A8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3D5712-7CB0-4907-8937-341D0B514474}"/>
              </a:ext>
            </a:extLst>
          </p:cNvPr>
          <p:cNvSpPr>
            <a:spLocks noGrp="1"/>
          </p:cNvSpPr>
          <p:nvPr/>
        </p:nvSpPr>
        <p:spPr>
          <a:xfrm>
            <a:off x="5981700" y="27051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Ответы и голоса</a:t>
            </a:r>
          </a:p>
        </p:txBody>
      </p:sp>
      <p:cxnSp>
        <p:nvCxnSpPr>
          <p:cNvPr id="94" name="Straight Arrow Connector 93"/>
          <p:cNvCxnSpPr>
            <a:stCxn id="24" idx="3"/>
            <a:endCxn id="27" idx="1"/>
          </p:cNvCxnSpPr>
          <p:nvPr/>
        </p:nvCxnSpPr>
        <p:spPr>
          <a:xfrm>
            <a:off x="5610225" y="2905125"/>
            <a:ext cx="276225" cy="0"/>
          </a:xfrm>
          <a:prstGeom prst="straightConnector1">
            <a:avLst/>
          </a:prstGeom>
          <a:ln w="19050">
            <a:solidFill>
              <a:srgbClr val="86A8FF"/>
            </a:solidFill>
            <a:prstDash val="solid"/>
            <a:tailEnd type="arrow" w="sm" len="sm"/>
          </a:ln>
        </p:spPr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A55F0F7-E37D-442B-9C55-F89A47AF5F23}"/>
              </a:ext>
            </a:extLst>
          </p:cNvPr>
          <p:cNvSpPr>
            <a:spLocks noGrp="1"/>
          </p:cNvSpPr>
          <p:nvPr/>
        </p:nvSpPr>
        <p:spPr>
          <a:xfrm>
            <a:off x="7734300" y="25527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86A8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585466-2992-4744-B003-33CF2846129B}"/>
              </a:ext>
            </a:extLst>
          </p:cNvPr>
          <p:cNvSpPr>
            <a:spLocks noGrp="1"/>
          </p:cNvSpPr>
          <p:nvPr/>
        </p:nvSpPr>
        <p:spPr>
          <a:xfrm>
            <a:off x="7829550" y="27051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Atomic settlement</a:t>
            </a:r>
          </a:p>
        </p:txBody>
      </p:sp>
      <p:cxnSp>
        <p:nvCxnSpPr>
          <p:cNvPr id="97" name="Straight Arrow Connector 96"/>
          <p:cNvCxnSpPr>
            <a:stCxn id="27" idx="3"/>
            <a:endCxn id="30" idx="1"/>
          </p:cNvCxnSpPr>
          <p:nvPr/>
        </p:nvCxnSpPr>
        <p:spPr>
          <a:xfrm>
            <a:off x="7458075" y="2905125"/>
            <a:ext cx="276225" cy="0"/>
          </a:xfrm>
          <a:prstGeom prst="straightConnector1">
            <a:avLst/>
          </a:prstGeom>
          <a:ln w="19050">
            <a:solidFill>
              <a:srgbClr val="86A8FF"/>
            </a:solidFill>
            <a:prstDash val="solid"/>
            <a:tailEnd type="arrow" w="sm" len="sm"/>
          </a:ln>
        </p:spPr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041A35-A507-4139-9847-462AF65C4EF4}"/>
              </a:ext>
            </a:extLst>
          </p:cNvPr>
          <p:cNvSpPr>
            <a:spLocks noGrp="1"/>
          </p:cNvSpPr>
          <p:nvPr/>
        </p:nvSpPr>
        <p:spPr>
          <a:xfrm>
            <a:off x="9582150" y="25527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5B5E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3DD91A-0E03-418D-B045-6C520CD8B792}"/>
              </a:ext>
            </a:extLst>
          </p:cNvPr>
          <p:cNvSpPr>
            <a:spLocks noGrp="1"/>
          </p:cNvSpPr>
          <p:nvPr/>
        </p:nvSpPr>
        <p:spPr>
          <a:xfrm>
            <a:off x="9677400" y="27051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Reconnect: восстановить duelId</a:t>
            </a:r>
          </a:p>
        </p:txBody>
      </p:sp>
      <p:cxnSp>
        <p:nvCxnSpPr>
          <p:cNvPr id="100" name="Straight Arrow Connector 99"/>
          <p:cNvCxnSpPr>
            <a:stCxn id="30" idx="3"/>
            <a:endCxn id="33" idx="1"/>
          </p:cNvCxnSpPr>
          <p:nvPr/>
        </p:nvCxnSpPr>
        <p:spPr>
          <a:xfrm>
            <a:off x="9305925" y="2905125"/>
            <a:ext cx="276225" cy="0"/>
          </a:xfrm>
          <a:prstGeom prst="straightConnector1">
            <a:avLst/>
          </a:prstGeom>
          <a:ln w="19050">
            <a:solidFill>
              <a:srgbClr val="86A8FF"/>
            </a:solidFill>
            <a:prstDash val="solid"/>
            <a:tailEnd type="arrow" w="sm" len="sm"/>
          </a:ln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9753C28-1FA4-4FE7-9B85-4517A1434FE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P2P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7304EAC-5D79-4B8A-AC4C-823E827813D9}"/>
              </a:ext>
            </a:extLst>
          </p:cNvPr>
          <p:cNvSpPr>
            <a:spLocks noGrp="1"/>
          </p:cNvSpPr>
          <p:nvPr/>
        </p:nvSpPr>
        <p:spPr>
          <a:xfrm>
            <a:off x="2190750" y="37528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D9F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5AEB58-9A76-4004-BEDD-DE798840896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Создать ордер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F7560A8-5C2D-44E6-BB7A-F519227F4617}"/>
              </a:ext>
            </a:extLst>
          </p:cNvPr>
          <p:cNvSpPr>
            <a:spLocks noGrp="1"/>
          </p:cNvSpPr>
          <p:nvPr/>
        </p:nvSpPr>
        <p:spPr>
          <a:xfrm>
            <a:off x="4038600" y="37528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D9F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6BED06-51A1-4E2C-BAB5-72D219A8619C}"/>
              </a:ext>
            </a:extLst>
          </p:cNvPr>
          <p:cNvSpPr>
            <a:spLocks noGrp="1"/>
          </p:cNvSpPr>
          <p:nvPr/>
        </p:nvSpPr>
        <p:spPr>
          <a:xfrm>
            <a:off x="4133850" y="39052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Резерв баланса</a:t>
            </a:r>
          </a:p>
        </p:txBody>
      </p:sp>
      <p:cxnSp>
        <p:nvCxnSpPr>
          <p:cNvPr id="106" name="Straight Arrow Connector 105"/>
          <p:cNvCxnSpPr>
            <a:stCxn id="37" idx="3"/>
            <a:endCxn id="39" idx="1"/>
          </p:cNvCxnSpPr>
          <p:nvPr/>
        </p:nvCxnSpPr>
        <p:spPr>
          <a:xfrm>
            <a:off x="3762375" y="4105275"/>
            <a:ext cx="276225" cy="0"/>
          </a:xfrm>
          <a:prstGeom prst="straightConnector1">
            <a:avLst/>
          </a:prstGeom>
          <a:ln w="19050">
            <a:solidFill>
              <a:srgbClr val="D9FF37"/>
            </a:solidFill>
            <a:prstDash val="solid"/>
            <a:tailEnd type="arrow" w="sm" len="sm"/>
          </a:ln>
        </p:spPr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4714E53-3DD1-4AA9-93CC-74E6041428B3}"/>
              </a:ext>
            </a:extLst>
          </p:cNvPr>
          <p:cNvSpPr>
            <a:spLocks noGrp="1"/>
          </p:cNvSpPr>
          <p:nvPr/>
        </p:nvSpPr>
        <p:spPr>
          <a:xfrm>
            <a:off x="5886450" y="37528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D9F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35739E-77A9-49B1-8368-828536945C28}"/>
              </a:ext>
            </a:extLst>
          </p:cNvPr>
          <p:cNvSpPr>
            <a:spLocks noGrp="1"/>
          </p:cNvSpPr>
          <p:nvPr/>
        </p:nvSpPr>
        <p:spPr>
          <a:xfrm>
            <a:off x="5981700" y="39052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Подтвердить сделку</a:t>
            </a:r>
          </a:p>
        </p:txBody>
      </p:sp>
      <p:cxnSp>
        <p:nvCxnSpPr>
          <p:cNvPr id="109" name="Straight Arrow Connector 108"/>
          <p:cNvCxnSpPr>
            <a:stCxn id="39" idx="3"/>
            <a:endCxn id="42" idx="1"/>
          </p:cNvCxnSpPr>
          <p:nvPr/>
        </p:nvCxnSpPr>
        <p:spPr>
          <a:xfrm>
            <a:off x="5610225" y="4105275"/>
            <a:ext cx="276225" cy="0"/>
          </a:xfrm>
          <a:prstGeom prst="straightConnector1">
            <a:avLst/>
          </a:prstGeom>
          <a:ln w="19050">
            <a:solidFill>
              <a:srgbClr val="D9FF37"/>
            </a:solidFill>
            <a:prstDash val="solid"/>
            <a:tailEnd type="arrow" w="sm" len="sm"/>
          </a:ln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0A9B713-CAB1-4B13-A2DB-93725064010E}"/>
              </a:ext>
            </a:extLst>
          </p:cNvPr>
          <p:cNvSpPr>
            <a:spLocks noGrp="1"/>
          </p:cNvSpPr>
          <p:nvPr/>
        </p:nvSpPr>
        <p:spPr>
          <a:xfrm>
            <a:off x="7734300" y="37528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D9FF3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232DCFE-DC90-4BED-A203-BD81F7754184}"/>
              </a:ext>
            </a:extLst>
          </p:cNvPr>
          <p:cNvSpPr>
            <a:spLocks noGrp="1"/>
          </p:cNvSpPr>
          <p:nvPr/>
        </p:nvSpPr>
        <p:spPr>
          <a:xfrm>
            <a:off x="7829550" y="39052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Settlement / отмена</a:t>
            </a:r>
          </a:p>
        </p:txBody>
      </p:sp>
      <p:cxnSp>
        <p:nvCxnSpPr>
          <p:cNvPr id="112" name="Straight Arrow Connector 111"/>
          <p:cNvCxnSpPr>
            <a:stCxn id="42" idx="3"/>
            <a:endCxn id="45" idx="1"/>
          </p:cNvCxnSpPr>
          <p:nvPr/>
        </p:nvCxnSpPr>
        <p:spPr>
          <a:xfrm>
            <a:off x="7458075" y="4105275"/>
            <a:ext cx="276225" cy="0"/>
          </a:xfrm>
          <a:prstGeom prst="straightConnector1">
            <a:avLst/>
          </a:prstGeom>
          <a:ln w="19050">
            <a:solidFill>
              <a:srgbClr val="D9FF37"/>
            </a:solidFill>
            <a:prstDash val="solid"/>
            <a:tailEnd type="arrow" w="sm" len="sm"/>
          </a:ln>
        </p:spPr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8C28928-824D-403F-9160-C2A6DEC34B47}"/>
              </a:ext>
            </a:extLst>
          </p:cNvPr>
          <p:cNvSpPr>
            <a:spLocks noGrp="1"/>
          </p:cNvSpPr>
          <p:nvPr/>
        </p:nvSpPr>
        <p:spPr>
          <a:xfrm>
            <a:off x="9582150" y="375285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5B5E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7AD63E-1EB8-4355-841D-C2A6C59927E5}"/>
              </a:ext>
            </a:extLst>
          </p:cNvPr>
          <p:cNvSpPr>
            <a:spLocks noGrp="1"/>
          </p:cNvSpPr>
          <p:nvPr/>
        </p:nvSpPr>
        <p:spPr>
          <a:xfrm>
            <a:off x="9677400" y="39052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Double spend блокирует сервер</a:t>
            </a:r>
          </a:p>
        </p:txBody>
      </p:sp>
      <p:cxnSp>
        <p:nvCxnSpPr>
          <p:cNvPr id="115" name="Straight Arrow Connector 114"/>
          <p:cNvCxnSpPr>
            <a:stCxn id="45" idx="3"/>
            <a:endCxn id="48" idx="1"/>
          </p:cNvCxnSpPr>
          <p:nvPr/>
        </p:nvCxnSpPr>
        <p:spPr>
          <a:xfrm>
            <a:off x="9305925" y="4105275"/>
            <a:ext cx="276225" cy="0"/>
          </a:xfrm>
          <a:prstGeom prst="straightConnector1">
            <a:avLst/>
          </a:prstGeom>
          <a:ln w="19050">
            <a:solidFill>
              <a:srgbClr val="D9FF37"/>
            </a:solidFill>
            <a:prstDash val="solid"/>
            <a:tailEnd type="arrow" w="sm" len="sm"/>
          </a:ln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C28E5F7-95B3-46F2-835E-DF69BDAB2672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КРЕДИТ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6B82D6A-FF71-4765-85F9-D8E1CDEB3FB1}"/>
              </a:ext>
            </a:extLst>
          </p:cNvPr>
          <p:cNvSpPr>
            <a:spLocks noGrp="1"/>
          </p:cNvSpPr>
          <p:nvPr/>
        </p:nvSpPr>
        <p:spPr>
          <a:xfrm>
            <a:off x="2190750" y="49530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418C10F-C031-415A-A757-4487A054F370}"/>
              </a:ext>
            </a:extLst>
          </p:cNvPr>
          <p:cNvSpPr>
            <a:spLocks noGrp="1"/>
          </p:cNvSpPr>
          <p:nvPr/>
        </p:nvSpPr>
        <p:spPr>
          <a:xfrm>
            <a:off x="2286000" y="51054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Баланс = 0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CDEFB4A-D05C-490C-8353-99BAA0B6C053}"/>
              </a:ext>
            </a:extLst>
          </p:cNvPr>
          <p:cNvSpPr>
            <a:spLocks noGrp="1"/>
          </p:cNvSpPr>
          <p:nvPr/>
        </p:nvSpPr>
        <p:spPr>
          <a:xfrm>
            <a:off x="4038600" y="49530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4AD0F37-8FA9-4C31-B248-456ECAB1C07A}"/>
              </a:ext>
            </a:extLst>
          </p:cNvPr>
          <p:cNvSpPr>
            <a:spLocks noGrp="1"/>
          </p:cNvSpPr>
          <p:nvPr/>
        </p:nvSpPr>
        <p:spPr>
          <a:xfrm>
            <a:off x="4133850" y="51054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Подтвердить условия</a:t>
            </a:r>
          </a:p>
        </p:txBody>
      </p:sp>
      <p:cxnSp>
        <p:nvCxnSpPr>
          <p:cNvPr id="121" name="Straight Arrow Connector 120"/>
          <p:cNvCxnSpPr>
            <a:stCxn id="52" idx="3"/>
            <a:endCxn id="54" idx="1"/>
          </p:cNvCxnSpPr>
          <p:nvPr/>
        </p:nvCxnSpPr>
        <p:spPr>
          <a:xfrm>
            <a:off x="3762375" y="5305425"/>
            <a:ext cx="276225" cy="0"/>
          </a:xfrm>
          <a:prstGeom prst="straightConnector1">
            <a:avLst/>
          </a:prstGeom>
          <a:ln w="19050">
            <a:solidFill>
              <a:srgbClr val="F1F0E9"/>
            </a:solidFill>
            <a:prstDash val="solid"/>
            <a:tailEnd type="arrow" w="sm" len="sm"/>
          </a:ln>
        </p:spPr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D3252CC-4A8A-4488-8A0A-28D50DBE1F1D}"/>
              </a:ext>
            </a:extLst>
          </p:cNvPr>
          <p:cNvSpPr>
            <a:spLocks noGrp="1"/>
          </p:cNvSpPr>
          <p:nvPr/>
        </p:nvSpPr>
        <p:spPr>
          <a:xfrm>
            <a:off x="5886450" y="49530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FBA9DE-2D6A-4073-8774-2A5443C9A876}"/>
              </a:ext>
            </a:extLst>
          </p:cNvPr>
          <p:cNvSpPr>
            <a:spLocks noGrp="1"/>
          </p:cNvSpPr>
          <p:nvPr/>
        </p:nvSpPr>
        <p:spPr>
          <a:xfrm>
            <a:off x="5981700" y="51054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Долг + таймер</a:t>
            </a:r>
          </a:p>
        </p:txBody>
      </p:sp>
      <p:cxnSp>
        <p:nvCxnSpPr>
          <p:cNvPr id="124" name="Straight Arrow Connector 123"/>
          <p:cNvCxnSpPr>
            <a:stCxn id="54" idx="3"/>
            <a:endCxn id="57" idx="1"/>
          </p:cNvCxnSpPr>
          <p:nvPr/>
        </p:nvCxnSpPr>
        <p:spPr>
          <a:xfrm>
            <a:off x="5610225" y="5305425"/>
            <a:ext cx="276225" cy="0"/>
          </a:xfrm>
          <a:prstGeom prst="straightConnector1">
            <a:avLst/>
          </a:prstGeom>
          <a:ln w="19050">
            <a:solidFill>
              <a:srgbClr val="F1F0E9"/>
            </a:solidFill>
            <a:prstDash val="solid"/>
            <a:tail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82E4653-B0DE-4C10-8B4E-825EB0AE4A91}"/>
              </a:ext>
            </a:extLst>
          </p:cNvPr>
          <p:cNvSpPr>
            <a:spLocks noGrp="1"/>
          </p:cNvSpPr>
          <p:nvPr/>
        </p:nvSpPr>
        <p:spPr>
          <a:xfrm>
            <a:off x="7734300" y="49530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9EA164D-8530-4AC8-A9C1-488550244660}"/>
              </a:ext>
            </a:extLst>
          </p:cNvPr>
          <p:cNvSpPr>
            <a:spLocks noGrp="1"/>
          </p:cNvSpPr>
          <p:nvPr/>
        </p:nvSpPr>
        <p:spPr>
          <a:xfrm>
            <a:off x="7829550" y="51054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Погашение / SCAM</a:t>
            </a:r>
          </a:p>
        </p:txBody>
      </p:sp>
      <p:cxnSp>
        <p:nvCxnSpPr>
          <p:cNvPr id="127" name="Straight Arrow Connector 126"/>
          <p:cNvCxnSpPr>
            <a:stCxn id="57" idx="3"/>
            <a:endCxn id="60" idx="1"/>
          </p:cNvCxnSpPr>
          <p:nvPr/>
        </p:nvCxnSpPr>
        <p:spPr>
          <a:xfrm>
            <a:off x="7458075" y="5305425"/>
            <a:ext cx="276225" cy="0"/>
          </a:xfrm>
          <a:prstGeom prst="straightConnector1">
            <a:avLst/>
          </a:prstGeom>
          <a:ln w="19050">
            <a:solidFill>
              <a:srgbClr val="F1F0E9"/>
            </a:solidFill>
            <a:prstDash val="solid"/>
            <a:tailEnd type="arrow" w="sm" len="sm"/>
          </a:ln>
        </p:spPr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3001723-737A-4163-B85D-3108C867DEE1}"/>
              </a:ext>
            </a:extLst>
          </p:cNvPr>
          <p:cNvSpPr>
            <a:spLocks noGrp="1"/>
          </p:cNvSpPr>
          <p:nvPr/>
        </p:nvSpPr>
        <p:spPr>
          <a:xfrm>
            <a:off x="9582150" y="4953000"/>
            <a:ext cx="1571625" cy="704850"/>
          </a:xfrm>
          <a:prstGeom prst="roundRect">
            <a:avLst>
              <a:gd name="adj" fmla="val 10811"/>
            </a:avLst>
          </a:prstGeom>
          <a:solidFill>
            <a:srgbClr val="121415"/>
          </a:solidFill>
          <a:ln w="9525">
            <a:solidFill>
              <a:srgbClr val="5B5E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54AF7C9-5AD5-4E74-8F82-93CF98C4B719}"/>
              </a:ext>
            </a:extLst>
          </p:cNvPr>
          <p:cNvSpPr>
            <a:spLocks noGrp="1"/>
          </p:cNvSpPr>
          <p:nvPr/>
        </p:nvSpPr>
        <p:spPr>
          <a:xfrm>
            <a:off x="9677400" y="51054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Бан ограничивает экономические действия</a:t>
            </a:r>
          </a:p>
        </p:txBody>
      </p:sp>
      <p:cxnSp>
        <p:nvCxnSpPr>
          <p:cNvPr id="130" name="Straight Arrow Connector 129"/>
          <p:cNvCxnSpPr>
            <a:stCxn id="60" idx="3"/>
            <a:endCxn id="63" idx="1"/>
          </p:cNvCxnSpPr>
          <p:nvPr/>
        </p:nvCxnSpPr>
        <p:spPr>
          <a:xfrm>
            <a:off x="9305925" y="5305425"/>
            <a:ext cx="276225" cy="0"/>
          </a:xfrm>
          <a:prstGeom prst="straightConnector1">
            <a:avLst/>
          </a:prstGeom>
          <a:ln w="19050">
            <a:solidFill>
              <a:srgbClr val="F1F0E9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75925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81184A4-570B-437C-B262-4FD591C590E1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C3721-B874-4DAA-9F2C-237461E4AF1C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Модули и поток данных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7EB93E-940F-4DB4-97A0-08697F2E853E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8F9144-B5AA-4186-ACB0-8ABC5ECCFAE7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DCF12-F011-480E-8016-E3815052F81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2BD590-0431-43D3-ADC5-41586A1477BD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2000250" cy="1047750"/>
          </a:xfrm>
          <a:prstGeom prst="roundRect">
            <a:avLst>
              <a:gd name="adj" fmla="val 7273"/>
            </a:avLst>
          </a:prstGeom>
          <a:solidFill>
            <a:srgbClr val="121415"/>
          </a:solidFill>
          <a:ln w="9525">
            <a:solidFill>
              <a:srgbClr val="D9FF37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FF37"/>
                </a:solidFill>
                <a:latin typeface="Arial"/>
                <a:ea typeface="Arial"/>
                <a:cs typeface="Arial"/>
              </a:rPr>
              <a:t>БРАУЗЕР</a:t>
            </a:r>
          </a:p>
          <a:p>
            <a:pPr algn="ctr">
              <a:defRPr sz="1425" b="1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FF37"/>
                </a:solidFill>
                <a:latin typeface="Arial"/>
                <a:ea typeface="Arial"/>
                <a:cs typeface="Arial"/>
              </a:rPr>
              <a:t>React + Redux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0ED3F0-C3B1-4AED-B962-64EF71A711C3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121415"/>
          </a:solidFill>
          <a:ln w="9525">
            <a:solidFill>
              <a:srgbClr val="86A8FF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86A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6A8FF"/>
                </a:solidFill>
                <a:latin typeface="Arial"/>
                <a:ea typeface="Arial"/>
                <a:cs typeface="Arial"/>
              </a:rPr>
              <a:t>WEB WORKER</a:t>
            </a:r>
          </a:p>
          <a:p>
            <a:pPr algn="ctr">
              <a:defRPr sz="1200" b="1">
                <a:solidFill>
                  <a:srgbClr val="86A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6A8FF"/>
                </a:solidFill>
                <a:latin typeface="Arial"/>
                <a:ea typeface="Arial"/>
                <a:cs typeface="Arial"/>
              </a:rPr>
              <a:t>агрегация графика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49A365-462D-4D1C-8D95-A9F2E40B415F}"/>
              </a:ext>
            </a:extLst>
          </p:cNvPr>
          <p:cNvSpPr>
            <a:spLocks noGrp="1"/>
          </p:cNvSpPr>
          <p:nvPr/>
        </p:nvSpPr>
        <p:spPr>
          <a:xfrm>
            <a:off x="3667125" y="190500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NESTJS GATEWAY</a:t>
            </a:r>
          </a:p>
          <a:p>
            <a:pPr algn="ctr">
              <a:defRPr sz="1350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HTTP + WebSocket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73D391-D3CD-44AA-A6E5-B76CB196EBF1}"/>
              </a:ext>
            </a:extLst>
          </p:cNvPr>
          <p:cNvSpPr>
            <a:spLocks noGrp="1"/>
          </p:cNvSpPr>
          <p:nvPr/>
        </p:nvSpPr>
        <p:spPr>
          <a:xfrm>
            <a:off x="6762750" y="1905000"/>
            <a:ext cx="2190750" cy="1047750"/>
          </a:xfrm>
          <a:prstGeom prst="roundRect">
            <a:avLst>
              <a:gd name="adj" fmla="val 7273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F0E9"/>
                </a:solidFill>
                <a:latin typeface="Arial"/>
                <a:ea typeface="Arial"/>
                <a:cs typeface="Arial"/>
              </a:rPr>
              <a:t>SPRING CORE</a:t>
            </a:r>
          </a:p>
          <a:p>
            <a:pPr algn="ctr">
              <a:defRPr sz="1350" b="1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F0E9"/>
                </a:solidFill>
                <a:latin typeface="Arial"/>
                <a:ea typeface="Arial"/>
                <a:cs typeface="Arial"/>
              </a:rPr>
              <a:t>игры + ledger + P2P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37C6CB-B2F3-4863-ABC6-E55494183F50}"/>
              </a:ext>
            </a:extLst>
          </p:cNvPr>
          <p:cNvSpPr>
            <a:spLocks noGrp="1"/>
          </p:cNvSpPr>
          <p:nvPr/>
        </p:nvSpPr>
        <p:spPr>
          <a:xfrm>
            <a:off x="9858375" y="128587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121415"/>
          </a:solidFill>
          <a:ln w="9525">
            <a:solidFill>
              <a:srgbClr val="D9FF37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FF37"/>
                </a:solidFill>
                <a:latin typeface="Arial"/>
                <a:ea typeface="Arial"/>
                <a:cs typeface="Arial"/>
              </a:rPr>
              <a:t>POSTGRESQL</a:t>
            </a:r>
          </a:p>
          <a:p>
            <a:pPr algn="ctr">
              <a:defRPr sz="1200" b="1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FF37"/>
                </a:solidFill>
                <a:latin typeface="Arial"/>
                <a:ea typeface="Arial"/>
                <a:cs typeface="Arial"/>
              </a:rPr>
              <a:t>источник истины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5252A-8AF9-45D6-A98E-66CBA1086B00}"/>
              </a:ext>
            </a:extLst>
          </p:cNvPr>
          <p:cNvSpPr>
            <a:spLocks noGrp="1"/>
          </p:cNvSpPr>
          <p:nvPr/>
        </p:nvSpPr>
        <p:spPr>
          <a:xfrm>
            <a:off x="9858375" y="264795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REDIS</a:t>
            </a:r>
          </a:p>
          <a:p>
            <a:pPr algn="ctr">
              <a:defRPr sz="1125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matchmaking + pub/sub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E199D6-EB4C-4A75-912D-6A6D6BB89C7A}"/>
              </a:ext>
            </a:extLst>
          </p:cNvPr>
          <p:cNvSpPr>
            <a:spLocks noGrp="1"/>
          </p:cNvSpPr>
          <p:nvPr/>
        </p:nvSpPr>
        <p:spPr>
          <a:xfrm>
            <a:off x="9858375" y="401002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121415"/>
          </a:solidFill>
          <a:ln w="9525">
            <a:solidFill>
              <a:srgbClr val="86A8FF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86A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6A8FF"/>
                </a:solidFill>
                <a:latin typeface="Arial"/>
                <a:ea typeface="Arial"/>
                <a:cs typeface="Arial"/>
              </a:rPr>
              <a:t>OBJECT STORAGE</a:t>
            </a:r>
          </a:p>
          <a:p>
            <a:pPr algn="ctr">
              <a:defRPr sz="1125" b="1">
                <a:solidFill>
                  <a:srgbClr val="86A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6A8FF"/>
                </a:solidFill>
                <a:latin typeface="Arial"/>
                <a:ea typeface="Arial"/>
                <a:cs typeface="Arial"/>
              </a:rPr>
              <a:t>мемы и нейрослоп</a:t>
            </a:r>
          </a:p>
        </p:txBody>
      </p:sp>
      <p:cxnSp>
        <p:nvCxnSpPr>
          <p:cNvPr id="35" name="Straight Arrow Connector 34"/>
          <p:cNvCxnSpPr>
            <a:stCxn id="6" idx="3"/>
            <a:endCxn id="8" idx="1"/>
          </p:cNvCxnSpPr>
          <p:nvPr/>
        </p:nvCxnSpPr>
        <p:spPr>
          <a:xfrm>
            <a:off x="2667000" y="2428875"/>
            <a:ext cx="1000125" cy="0"/>
          </a:xfrm>
          <a:prstGeom prst="straightConnector1">
            <a:avLst/>
          </a:prstGeom>
          <a:ln w="19050">
            <a:solidFill>
              <a:srgbClr val="D9FF37"/>
            </a:solidFill>
            <a:prstDash val="solid"/>
            <a:tailEnd type="arrow" w="sm" len="sm"/>
          </a:ln>
        </p:spPr>
      </p:cxnSp>
      <p:cxnSp>
        <p:nvCxnSpPr>
          <p:cNvPr id="36" name="Straight Arrow Connector 35"/>
          <p:cNvCxnSpPr>
            <a:stCxn id="8" idx="3"/>
            <a:endCxn id="9" idx="1"/>
          </p:cNvCxnSpPr>
          <p:nvPr/>
        </p:nvCxnSpPr>
        <p:spPr>
          <a:xfrm>
            <a:off x="5762625" y="2428875"/>
            <a:ext cx="1000125" cy="0"/>
          </a:xfrm>
          <a:prstGeom prst="straightConnector1">
            <a:avLst/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cxnSp>
        <p:nvCxnSpPr>
          <p:cNvPr id="37" name="Connector: Elbow 36"/>
          <p:cNvCxnSpPr>
            <a:stCxn id="9" idx="3"/>
            <a:endCxn id="10" idx="1"/>
          </p:cNvCxnSpPr>
          <p:nvPr/>
        </p:nvCxnSpPr>
        <p:spPr>
          <a:xfrm flipV="1">
            <a:off x="8953500" y="1704975"/>
            <a:ext cx="904875" cy="723900"/>
          </a:xfrm>
          <a:prstGeom prst="bentConnector3">
            <a:avLst>
              <a:gd name="adj1" fmla="val 50000"/>
            </a:avLst>
          </a:prstGeom>
          <a:ln w="19050">
            <a:solidFill>
              <a:srgbClr val="D9FF37"/>
            </a:solidFill>
            <a:prstDash val="solid"/>
            <a:tailEnd type="arrow" w="sm" len="sm"/>
          </a:ln>
        </p:spPr>
      </p:cxnSp>
      <p:cxnSp>
        <p:nvCxnSpPr>
          <p:cNvPr id="38" name="Connector: Elbow 37"/>
          <p:cNvCxnSpPr>
            <a:stCxn id="9" idx="3"/>
            <a:endCxn id="11" idx="1"/>
          </p:cNvCxnSpPr>
          <p:nvPr/>
        </p:nvCxnSpPr>
        <p:spPr>
          <a:xfrm>
            <a:off x="8953500" y="2428875"/>
            <a:ext cx="904875" cy="638175"/>
          </a:xfrm>
          <a:prstGeom prst="bentConnector3">
            <a:avLst>
              <a:gd name="adj1" fmla="val 50000"/>
            </a:avLst>
          </a:prstGeom>
          <a:ln w="19050">
            <a:solidFill>
              <a:srgbClr val="FF5148"/>
            </a:solidFill>
            <a:prstDash val="solid"/>
            <a:tailEnd type="arrow" w="sm" len="sm"/>
          </a:ln>
        </p:spPr>
      </p:cxnSp>
      <p:cxnSp>
        <p:nvCxnSpPr>
          <p:cNvPr id="39" name="Connector: Elbow 38"/>
          <p:cNvCxnSpPr>
            <a:stCxn id="9" idx="3"/>
            <a:endCxn id="12" idx="1"/>
          </p:cNvCxnSpPr>
          <p:nvPr/>
        </p:nvCxnSpPr>
        <p:spPr>
          <a:xfrm>
            <a:off x="8953500" y="2428875"/>
            <a:ext cx="904875" cy="2000250"/>
          </a:xfrm>
          <a:prstGeom prst="bentConnector3">
            <a:avLst>
              <a:gd name="adj1" fmla="val 50000"/>
            </a:avLst>
          </a:prstGeom>
          <a:ln w="19050">
            <a:solidFill>
              <a:srgbClr val="86A8FF"/>
            </a:solidFill>
            <a:prstDash val="solid"/>
            <a:tailEnd type="arrow" w="sm" len="sm"/>
          </a:ln>
        </p:spPr>
      </p:cxnSp>
      <p:cxnSp>
        <p:nvCxnSpPr>
          <p:cNvPr id="40" name="Straight Arrow Connector 39"/>
          <p:cNvCxnSpPr>
            <a:stCxn id="6" idx="2"/>
            <a:endCxn id="7" idx="0"/>
          </p:cNvCxnSpPr>
          <p:nvPr/>
        </p:nvCxnSpPr>
        <p:spPr>
          <a:xfrm>
            <a:off x="1666875" y="2952750"/>
            <a:ext cx="0" cy="952500"/>
          </a:xfrm>
          <a:prstGeom prst="straightConnector1">
            <a:avLst/>
          </a:prstGeom>
          <a:ln w="19050">
            <a:solidFill>
              <a:srgbClr val="86A8FF"/>
            </a:solidFill>
            <a:prstDash val="solid"/>
            <a:tailEnd type="arrow" w="sm" len="sm"/>
          </a:ln>
        </p:spPr>
      </p:cxnSp>
      <p:cxnSp>
        <p:nvCxnSpPr>
          <p:cNvPr id="41" name="Straight Arrow Connector 40"/>
          <p:cNvCxnSpPr>
            <a:stCxn id="7" idx="0"/>
            <a:endCxn id="6" idx="2"/>
          </p:cNvCxnSpPr>
          <p:nvPr/>
        </p:nvCxnSpPr>
        <p:spPr>
          <a:xfrm flipV="1">
            <a:off x="1666875" y="2952750"/>
            <a:ext cx="0" cy="952500"/>
          </a:xfrm>
          <a:prstGeom prst="straightConnector1">
            <a:avLst/>
          </a:prstGeom>
          <a:ln w="19050">
            <a:solidFill>
              <a:srgbClr val="86A8FF"/>
            </a:solidFill>
            <a:prstDash val="solid"/>
            <a:tailEnd type="arrow" w="sm" len="sm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A954B8E-D218-4C8D-B798-09877383E844}"/>
              </a:ext>
            </a:extLst>
          </p:cNvPr>
          <p:cNvSpPr>
            <a:spLocks noGrp="1"/>
          </p:cNvSpPr>
          <p:nvPr/>
        </p:nvSpPr>
        <p:spPr>
          <a:xfrm>
            <a:off x="2781300" y="1657350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HTTPS + JSON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EF7877-7670-42B4-899E-63A99F262A68}"/>
              </a:ext>
            </a:extLst>
          </p:cNvPr>
          <p:cNvSpPr>
            <a:spLocks noGrp="1"/>
          </p:cNvSpPr>
          <p:nvPr/>
        </p:nvSpPr>
        <p:spPr>
          <a:xfrm>
            <a:off x="5829300" y="16573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REST / OpenAPI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B0CE74-1B26-46C6-ADA7-AD56FFD93EAD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WSS доставляет price.tick, balance.changed, duel.* и order.*. OpenAPI генерирует TypeScript и Java модели.</a:t>
            </a:r>
          </a:p>
        </p:txBody>
      </p:sp>
    </p:spTree>
    <p:extLst>
      <p:ext uri="{BB962C8B-B14F-4D97-AF65-F5344CB8AC3E}">
        <p14:creationId xmlns:p14="http://schemas.microsoft.com/office/powerpoint/2010/main" val="35905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188EFF-6104-4E45-A1BA-C905DFAA9615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F5A568-DC1A-4CF3-9B5F-755ACC458971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Владение данными и защита игровой экономики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909CAF-F556-4D7B-9CC1-DBA13E859B94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22560E-746F-4979-9CBB-0B418FC54829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6DBE9-2FFB-464D-AEB9-E89B700D99A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552450" y="1238250"/>
          <a:ext cx="11087100" cy="40005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5250" marR="95250" marT="66675" marB="66675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Источник истины</a:t>
                      </a:r>
                    </a:p>
                  </a:txBody>
                  <a:tcPr marL="95250" marR="95250" marT="66675" marB="66675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Ключевое правило</a:t>
                      </a:r>
                    </a:p>
                  </a:txBody>
                  <a:tcPr marL="95250" marR="95250" marT="66675" marB="66675" anchor="ctr">
                    <a:solidFill>
                      <a:srgbClr val="D9F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Баланс и долг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Spring + PostgreSQL ledger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Append-only записи и idempotency key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P2P-ордер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Spring + PostgreSQL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Резерв до settlement защищает от double spend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Активная дуэль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Redis + snapshot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Server clock и reconnect по duelId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Изображения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Object storage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В БД только metadata и права доступа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Настройки UI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localStorage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0E9"/>
                          </a:solidFill>
                          <a:latin typeface="Arial"/>
                          <a:ea typeface="Arial"/>
                          <a:cs typeface="Arial"/>
                        </a:rPr>
                        <a:t>Только звук и режим чата, без ценного состояния</a:t>
                      </a:r>
                    </a:p>
                  </a:txBody>
                  <a:tcPr marL="95250" marR="95250" marT="66675" marB="66675" anchor="ctr">
                    <a:solidFill>
                      <a:srgbClr val="121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3DD7B1C-4DAD-4927-B511-2D3FA4896C26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В репозиторий не попадают: секреты, PII, production dumps, пользовательские загрузки и скрытые ответы игровых раундов.</a:t>
            </a:r>
          </a:p>
        </p:txBody>
      </p:sp>
    </p:spTree>
    <p:extLst>
      <p:ext uri="{BB962C8B-B14F-4D97-AF65-F5344CB8AC3E}">
        <p14:creationId xmlns:p14="http://schemas.microsoft.com/office/powerpoint/2010/main" val="86366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33BC3E-440F-4635-BD0F-9A53C98851A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3934A-7268-4579-838F-32CECA93B346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План работ на 18.09–01.10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99D4DE-3932-46CD-AA38-E17A088EBE9B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C8C8C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062BFE-03D9-4CC3-B24E-62DB25E97605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787A7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87A76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74AD7-961A-4FEF-B1E5-21DA5E3F027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787A7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87A76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graphicFrame>
        <p:nvGraphicFramePr>
          <p:cNvPr id="13" name="Table 12"/>
          <p:cNvGraphicFramePr/>
          <p:nvPr>
            <p:extLst>
              <p:ext uri="{D42A27DB-BD31-4B8C-83A1-F6EECF244321}">
                <p14:modId xmlns:p14="http://schemas.microsoft.com/office/powerpoint/2010/main" val="1821752266"/>
              </p:ext>
            </p:extLst>
          </p:nvPr>
        </p:nvGraphicFramePr>
        <p:xfrm>
          <a:off x="476250" y="1200150"/>
          <a:ext cx="11239500" cy="440055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85725" marR="85725" marT="57150" marB="57150" anchor="ctr">
                    <a:solidFill>
                      <a:srgbClr val="0B0C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85725" marR="85725" marT="57150" marB="57150" anchor="ctr">
                    <a:solidFill>
                      <a:srgbClr val="0B0C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85725" marR="85725" marT="57150" marB="57150" anchor="ctr">
                    <a:solidFill>
                      <a:srgbClr val="0B0C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Definition of Done</a:t>
                      </a:r>
                    </a:p>
                  </a:txBody>
                  <a:tcPr marL="85725" marR="85725" marT="57150" marB="57150" anchor="ctr">
                    <a:solidFill>
                      <a:srgbClr val="0B0C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125" b="1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18–20.09</a:t>
                      </a:r>
                    </a:p>
                  </a:txBody>
                  <a:tcPr marL="85725" marR="85725" marT="57150" marB="57150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Flow, ADR, React shell, repo rules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Ян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02</a:t>
                      </a:r>
                    </a:p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Даниил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03, 05</a:t>
                      </a:r>
                    </a:p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Матвей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01, 04</a:t>
                      </a:r>
                      <a:endParaRPr lang="ru-RU" sz="1125" dirty="0">
                        <a:solidFill>
                          <a:srgbClr val="0B0C0D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lang="ru-RU" sz="1125" dirty="0">
                          <a:solidFill>
                            <a:srgbClr val="0B0C0D"/>
                          </a:solidFill>
                          <a:latin typeface="Arial"/>
                          <a:ea typeface="+mn-ea"/>
                          <a:cs typeface="Arial"/>
                        </a:rPr>
                        <a:t>Андрей</a:t>
                      </a:r>
                      <a:r>
                        <a:rPr lang="en-US" sz="1125" dirty="0">
                          <a:solidFill>
                            <a:srgbClr val="0B0C0D"/>
                          </a:solidFill>
                          <a:latin typeface="Arial"/>
                          <a:ea typeface="+mn-ea"/>
                          <a:cs typeface="Arial"/>
                        </a:rPr>
                        <a:t>: 4.5</a:t>
                      </a:r>
                      <a:endParaRPr sz="1125" dirty="0">
                        <a:solidFill>
                          <a:srgbClr val="0B0C0D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Flow подтверждён; архитектурные границы записаны; PR rules включены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21–23.09</a:t>
                      </a:r>
                    </a:p>
                  </a:txBody>
                  <a:tcPr marL="85725" marR="85725" marT="57150" marB="57150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Ledger, demo auth, Docker Compose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Ян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06, 07</a:t>
                      </a:r>
                    </a:p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Матвей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08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Баланс идемпотентен; сервисы стартуют через make run на arm64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24–26.09</a:t>
                      </a:r>
                    </a:p>
                  </a:txBody>
                  <a:tcPr marL="85725" marR="85725" marT="57150" marB="57150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Слоп-угадайка и Canvas-график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ru-RU"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Андрей</a:t>
                      </a:r>
                      <a:r>
                        <a:rPr lang="en-US"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</a:t>
                      </a:r>
                      <a:r>
                        <a:rPr lang="en-US" sz="1125" dirty="0">
                          <a:solidFill>
                            <a:srgbClr val="0B0C0D"/>
                          </a:solidFill>
                          <a:latin typeface="Arial"/>
                          <a:cs typeface="Arial"/>
                        </a:rPr>
                        <a:t>8.5, 9.5, 10.5</a:t>
                      </a:r>
                      <a:endParaRPr lang="en-US" sz="1125" dirty="0">
                        <a:solidFill>
                          <a:srgbClr val="0B0C0D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Ян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09</a:t>
                      </a:r>
                    </a:p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Даниил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10, 11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Скрытый ответ остаётся на сервере; UI покрывает loading/error/retry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27–29.09</a:t>
                      </a:r>
                    </a:p>
                  </a:txBody>
                  <a:tcPr marL="85725" marR="85725" marT="57150" marB="57150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Sentry, аналитика, Playwright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Даниил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13</a:t>
                      </a:r>
                    </a:p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Матвей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12, 14</a:t>
                      </a:r>
                      <a:endParaRPr lang="en-US" sz="1125" dirty="0">
                        <a:solidFill>
                          <a:srgbClr val="0B0C0D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lang="ru-RU"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Андрей</a:t>
                      </a:r>
                      <a:r>
                        <a:rPr lang="en-US"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: </a:t>
                      </a:r>
                      <a:r>
                        <a:rPr lang="en-US" sz="1125" dirty="0">
                          <a:solidFill>
                            <a:srgbClr val="0B0C0D"/>
                          </a:solidFill>
                          <a:latin typeface="Arial"/>
                          <a:cs typeface="Arial"/>
                        </a:rPr>
                        <a:t>12.5</a:t>
                      </a:r>
                      <a:endParaRPr sz="1125" dirty="0">
                        <a:solidFill>
                          <a:srgbClr val="0B0C0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Нет PII; smoke flow стабилен; coverage threshold 80%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30.09–01.10</a:t>
                      </a:r>
                    </a:p>
                  </a:txBody>
                  <a:tcPr marL="85725" marR="85725" marT="57150" marB="57150" anchor="ctr">
                    <a:solidFill>
                      <a:srgbClr val="D9F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Realtime spike и G2 review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Ян: 15</a:t>
                      </a:r>
                    </a:p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Все: 16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Демо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двух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вкладок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; </a:t>
                      </a:r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макеты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 и </a:t>
                      </a:r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архитектура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готовы</a:t>
                      </a:r>
                      <a:r>
                        <a:rPr sz="1125" dirty="0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 к </a:t>
                      </a:r>
                      <a:r>
                        <a:rPr sz="1125" dirty="0" err="1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показу</a:t>
                      </a:r>
                      <a:endParaRPr sz="1125" dirty="0">
                        <a:solidFill>
                          <a:srgbClr val="0B0C0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93973AA-9407-48EE-987D-89703EB68567}"/>
              </a:ext>
            </a:extLst>
          </p:cNvPr>
          <p:cNvSpPr>
            <a:spLocks noGrp="1"/>
          </p:cNvSpPr>
          <p:nvPr/>
        </p:nvSpPr>
        <p:spPr>
          <a:xfrm>
            <a:off x="571500" y="58864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Нагрузка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: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Ян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: 5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задач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,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Даниил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: 5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задач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,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Матвей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: 5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задач</a:t>
            </a:r>
            <a:r>
              <a:rPr lang="en-US"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Андрей</a:t>
            </a:r>
            <a:r>
              <a:rPr lang="en-US"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: 5 </a:t>
            </a:r>
            <a:r>
              <a:rPr lang="ru-RU"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задач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. DX-16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выполняет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вся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1" i="0" dirty="0" err="1">
                <a:solidFill>
                  <a:srgbClr val="FF5148"/>
                </a:solidFill>
                <a:latin typeface="Arial"/>
                <a:ea typeface="Arial"/>
                <a:cs typeface="Arial"/>
              </a:rPr>
              <a:t>команда</a:t>
            </a:r>
            <a:r>
              <a:rPr sz="127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6590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29C66D7-06CB-4699-9D74-504848892977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114571-ACCC-408B-90D2-E60A891F272D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Команда, процесс разработки и репозиторий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1E4678-71A7-466D-A382-7AE2A5C96F8B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2F381-847B-4919-AA83-36ED195B83A4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2EA57-2E14-48EE-BC15-5FB5CBE8E6A3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5B5E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5E5A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A1A6E-14EE-4FBB-9161-33EC1B3FBAE4}"/>
              </a:ext>
            </a:extLst>
          </p:cNvPr>
          <p:cNvSpPr>
            <a:spLocks noGrp="1"/>
          </p:cNvSpPr>
          <p:nvPr/>
        </p:nvSpPr>
        <p:spPr>
          <a:xfrm>
            <a:off x="619125" y="12001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FF37"/>
                </a:solidFill>
                <a:latin typeface="Arial"/>
                <a:ea typeface="Arial"/>
                <a:cs typeface="Arial"/>
              </a:rPr>
              <a:t>ОДИН MONOREPO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83738A-6051-4BBD-BBAE-2E6FEA49AC3D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apps/web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186689-644E-4010-8E48-A613545F3E4F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271462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React + TypeScript + Vite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66527-C0C4-4AE5-A369-4A543751999B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466725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99AA06-93DB-49C0-BF93-B007789C8A77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apps/gateway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7577C-0884-49DB-A06F-9C7A153B94BA}"/>
              </a:ext>
            </a:extLst>
          </p:cNvPr>
          <p:cNvSpPr>
            <a:spLocks noGrp="1"/>
          </p:cNvSpPr>
          <p:nvPr/>
        </p:nvSpPr>
        <p:spPr>
          <a:xfrm>
            <a:off x="2667000" y="2333625"/>
            <a:ext cx="271462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NestJS BFF и WebSocket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23AB0C-726D-4D27-A179-143C517B96F3}"/>
              </a:ext>
            </a:extLst>
          </p:cNvPr>
          <p:cNvSpPr>
            <a:spLocks noGrp="1"/>
          </p:cNvSpPr>
          <p:nvPr/>
        </p:nvSpPr>
        <p:spPr>
          <a:xfrm>
            <a:off x="628650" y="2695575"/>
            <a:ext cx="466725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FC547B-9E83-4586-A062-9D9B62E74942}"/>
              </a:ext>
            </a:extLst>
          </p:cNvPr>
          <p:cNvSpPr>
            <a:spLocks noGrp="1"/>
          </p:cNvSpPr>
          <p:nvPr/>
        </p:nvSpPr>
        <p:spPr>
          <a:xfrm>
            <a:off x="628650" y="297180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services/core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55B20A-AB43-4D20-AE3A-A9582BC7C935}"/>
              </a:ext>
            </a:extLst>
          </p:cNvPr>
          <p:cNvSpPr>
            <a:spLocks noGrp="1"/>
          </p:cNvSpPr>
          <p:nvPr/>
        </p:nvSpPr>
        <p:spPr>
          <a:xfrm>
            <a:off x="2667000" y="2971800"/>
            <a:ext cx="271462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Java + Spring Boot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326A87-8AFC-4667-A52E-BCEBDA68F156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466725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09972E-D81F-4AB7-912D-36AA5EFB300F}"/>
              </a:ext>
            </a:extLst>
          </p:cNvPr>
          <p:cNvSpPr>
            <a:spLocks noGrp="1"/>
          </p:cNvSpPr>
          <p:nvPr/>
        </p:nvSpPr>
        <p:spPr>
          <a:xfrm>
            <a:off x="628650" y="3609975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packages/contracts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D0E227-5422-42A0-99B1-2BBBB469EDCA}"/>
              </a:ext>
            </a:extLst>
          </p:cNvPr>
          <p:cNvSpPr>
            <a:spLocks noGrp="1"/>
          </p:cNvSpPr>
          <p:nvPr/>
        </p:nvSpPr>
        <p:spPr>
          <a:xfrm>
            <a:off x="2667000" y="3609975"/>
            <a:ext cx="271462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OpenAPI и события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03AB6B-16FA-4BF3-9D9A-36CC0E4B861D}"/>
              </a:ext>
            </a:extLst>
          </p:cNvPr>
          <p:cNvSpPr>
            <a:spLocks noGrp="1"/>
          </p:cNvSpPr>
          <p:nvPr/>
        </p:nvSpPr>
        <p:spPr>
          <a:xfrm>
            <a:off x="628650" y="3971925"/>
            <a:ext cx="466725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DB1248-BF3D-41BD-B29F-51B508D09362}"/>
              </a:ext>
            </a:extLst>
          </p:cNvPr>
          <p:cNvSpPr>
            <a:spLocks noGrp="1"/>
          </p:cNvSpPr>
          <p:nvPr/>
        </p:nvSpPr>
        <p:spPr>
          <a:xfrm>
            <a:off x="628650" y="424815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infra + docs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8C3060-38F8-4CF5-9BA2-CE8E8436EC53}"/>
              </a:ext>
            </a:extLst>
          </p:cNvPr>
          <p:cNvSpPr>
            <a:spLocks noGrp="1"/>
          </p:cNvSpPr>
          <p:nvPr/>
        </p:nvSpPr>
        <p:spPr>
          <a:xfrm>
            <a:off x="2667000" y="4248150"/>
            <a:ext cx="271462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Docker, CI, ADR, flow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E28302-F38A-42FF-8810-3E552C85514F}"/>
              </a:ext>
            </a:extLst>
          </p:cNvPr>
          <p:cNvSpPr>
            <a:spLocks noGrp="1"/>
          </p:cNvSpPr>
          <p:nvPr/>
        </p:nvSpPr>
        <p:spPr>
          <a:xfrm>
            <a:off x="628650" y="4610100"/>
            <a:ext cx="4667250" cy="9525"/>
          </a:xfrm>
          <a:prstGeom prst="rect">
            <a:avLst/>
          </a:prstGeom>
          <a:solidFill>
            <a:srgbClr val="33363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1D23D8-2ECD-4668-BE03-FEBDB8788628}"/>
              </a:ext>
            </a:extLst>
          </p:cNvPr>
          <p:cNvSpPr>
            <a:spLocks noGrp="1"/>
          </p:cNvSpPr>
          <p:nvPr/>
        </p:nvSpPr>
        <p:spPr>
          <a:xfrm>
            <a:off x="6238875" y="12001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GITHUB FLOW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33315F4-933E-4628-83C2-D835743C7749}"/>
              </a:ext>
            </a:extLst>
          </p:cNvPr>
          <p:cNvSpPr>
            <a:spLocks noGrp="1"/>
          </p:cNvSpPr>
          <p:nvPr/>
        </p:nvSpPr>
        <p:spPr>
          <a:xfrm>
            <a:off x="6238875" y="1695450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F0E9"/>
                </a:solidFill>
                <a:latin typeface="Arial"/>
                <a:ea typeface="Arial"/>
                <a:cs typeface="Arial"/>
              </a:rPr>
              <a:t>1. Issue с DoD и owner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87860DA-D146-4BBC-807F-6C5285ABA73D}"/>
              </a:ext>
            </a:extLst>
          </p:cNvPr>
          <p:cNvSpPr>
            <a:spLocks noGrp="1"/>
          </p:cNvSpPr>
          <p:nvPr/>
        </p:nvSpPr>
        <p:spPr>
          <a:xfrm>
            <a:off x="6238875" y="2419350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F0E9"/>
                </a:solidFill>
                <a:latin typeface="Arial"/>
                <a:ea typeface="Arial"/>
                <a:cs typeface="Arial"/>
              </a:rPr>
              <a:t>2. Ветка feat/DX-123-name</a:t>
            </a:r>
          </a:p>
        </p:txBody>
      </p:sp>
      <p:cxnSp>
        <p:nvCxnSpPr>
          <p:cNvPr id="64" name="Straight Arrow Connector 63"/>
          <p:cNvCxnSpPr>
            <a:stCxn id="23" idx="2"/>
            <a:endCxn id="24" idx="0"/>
          </p:cNvCxnSpPr>
          <p:nvPr/>
        </p:nvCxnSpPr>
        <p:spPr>
          <a:xfrm>
            <a:off x="8620125" y="2190750"/>
            <a:ext cx="0" cy="228600"/>
          </a:xfrm>
          <a:prstGeom prst="straightConnector1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FE3ACA-2A20-43F5-B0ED-075913A4929B}"/>
              </a:ext>
            </a:extLst>
          </p:cNvPr>
          <p:cNvSpPr>
            <a:spLocks noGrp="1"/>
          </p:cNvSpPr>
          <p:nvPr/>
        </p:nvSpPr>
        <p:spPr>
          <a:xfrm>
            <a:off x="6238875" y="3143250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F0E9"/>
                </a:solidFill>
                <a:latin typeface="Arial"/>
                <a:ea typeface="Arial"/>
                <a:cs typeface="Arial"/>
              </a:rPr>
              <a:t>3. PR со способом проверки</a:t>
            </a:r>
          </a:p>
        </p:txBody>
      </p:sp>
      <p:cxnSp>
        <p:nvCxnSpPr>
          <p:cNvPr id="66" name="Straight Arrow Connector 65"/>
          <p:cNvCxnSpPr>
            <a:stCxn id="24" idx="2"/>
            <a:endCxn id="26" idx="0"/>
          </p:cNvCxnSpPr>
          <p:nvPr/>
        </p:nvCxnSpPr>
        <p:spPr>
          <a:xfrm>
            <a:off x="8620125" y="2914650"/>
            <a:ext cx="0" cy="228600"/>
          </a:xfrm>
          <a:prstGeom prst="straightConnector1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A6C80F0-0682-47ED-82C6-65462236E389}"/>
              </a:ext>
            </a:extLst>
          </p:cNvPr>
          <p:cNvSpPr>
            <a:spLocks noGrp="1"/>
          </p:cNvSpPr>
          <p:nvPr/>
        </p:nvSpPr>
        <p:spPr>
          <a:xfrm>
            <a:off x="6238875" y="3867150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121415"/>
          </a:solidFill>
          <a:ln w="9525">
            <a:solidFill>
              <a:srgbClr val="FF5148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5148"/>
                </a:solidFill>
                <a:latin typeface="Arial"/>
                <a:ea typeface="Arial"/>
                <a:cs typeface="Arial"/>
              </a:rPr>
              <a:t>4. Review + CI gates</a:t>
            </a:r>
          </a:p>
        </p:txBody>
      </p:sp>
      <p:cxnSp>
        <p:nvCxnSpPr>
          <p:cNvPr id="68" name="Straight Arrow Connector 67"/>
          <p:cNvCxnSpPr>
            <a:stCxn id="26" idx="2"/>
            <a:endCxn id="28" idx="0"/>
          </p:cNvCxnSpPr>
          <p:nvPr/>
        </p:nvCxnSpPr>
        <p:spPr>
          <a:xfrm>
            <a:off x="8620125" y="3638550"/>
            <a:ext cx="0" cy="228600"/>
          </a:xfrm>
          <a:prstGeom prst="straightConnector1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6E507B6-2633-465B-8DB2-012312A48999}"/>
              </a:ext>
            </a:extLst>
          </p:cNvPr>
          <p:cNvSpPr>
            <a:spLocks noGrp="1"/>
          </p:cNvSpPr>
          <p:nvPr/>
        </p:nvSpPr>
        <p:spPr>
          <a:xfrm>
            <a:off x="6238875" y="4591050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121415"/>
          </a:solidFill>
          <a:ln w="9525">
            <a:solidFill>
              <a:srgbClr val="F1F0E9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F0E9"/>
                </a:solidFill>
                <a:latin typeface="Arial"/>
                <a:ea typeface="Arial"/>
                <a:cs typeface="Arial"/>
              </a:rPr>
              <a:t>5. Squash merge в main</a:t>
            </a:r>
          </a:p>
        </p:txBody>
      </p:sp>
      <p:cxnSp>
        <p:nvCxnSpPr>
          <p:cNvPr id="70" name="Straight Arrow Connector 69"/>
          <p:cNvCxnSpPr>
            <a:stCxn id="28" idx="2"/>
            <a:endCxn id="30" idx="0"/>
          </p:cNvCxnSpPr>
          <p:nvPr/>
        </p:nvCxnSpPr>
        <p:spPr>
          <a:xfrm>
            <a:off x="8620125" y="4362450"/>
            <a:ext cx="0" cy="228600"/>
          </a:xfrm>
          <a:prstGeom prst="straightConnector1">
            <a:avLst/>
          </a:prstGeom>
          <a:ln w="19050">
            <a:solidFill>
              <a:srgbClr val="5B5E5A"/>
            </a:solidFill>
            <a:prstDash val="solid"/>
            <a:tailEnd type="arrow" w="sm" len="sm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4E7E0E1-88BB-46C3-B2AA-5FA210097CD7}"/>
              </a:ext>
            </a:extLst>
          </p:cNvPr>
          <p:cNvSpPr>
            <a:spLocks noGrp="1"/>
          </p:cNvSpPr>
          <p:nvPr/>
        </p:nvSpPr>
        <p:spPr>
          <a:xfrm>
            <a:off x="619125" y="537210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НЕ КОММИТИМ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85F94B-4CA1-41F6-A53C-A5F728404EA8}"/>
              </a:ext>
            </a:extLst>
          </p:cNvPr>
          <p:cNvSpPr>
            <a:spLocks noGrp="1"/>
          </p:cNvSpPr>
          <p:nvPr/>
        </p:nvSpPr>
        <p:spPr>
          <a:xfrm>
            <a:off x="2333625" y="5334000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A4A6A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6A1"/>
                </a:solidFill>
                <a:latin typeface="Arial"/>
                <a:ea typeface="Arial"/>
                <a:cs typeface="Arial"/>
              </a:rPr>
              <a:t>.env и ключи, PII и dumps, uploads, build output, скрытые игровые ответы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A8C002-D638-458E-B475-8E6CE237562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D9FF37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D9FF37"/>
                </a:solidFill>
                <a:latin typeface="Arial"/>
                <a:ea typeface="Arial"/>
                <a:cs typeface="Arial"/>
              </a:rPr>
              <a:t>ЯН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5AE3D9-D3F9-442D-B478-60AEFD3271C1}"/>
              </a:ext>
            </a:extLst>
          </p:cNvPr>
          <p:cNvSpPr>
            <a:spLocks noGrp="1"/>
          </p:cNvSpPr>
          <p:nvPr/>
        </p:nvSpPr>
        <p:spPr>
          <a:xfrm>
            <a:off x="1285875" y="581025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F1F0E9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26F2D8-EBAB-4FCF-859B-1CAA680FB2AF}"/>
              </a:ext>
            </a:extLst>
          </p:cNvPr>
          <p:cNvSpPr>
            <a:spLocks noGrp="1"/>
          </p:cNvSpPr>
          <p:nvPr/>
        </p:nvSpPr>
        <p:spPr>
          <a:xfrm>
            <a:off x="4095750" y="5729287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ДАНИИЛ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8675AB-E887-4B9C-AF86-728F3BC2D4C3}"/>
              </a:ext>
            </a:extLst>
          </p:cNvPr>
          <p:cNvSpPr>
            <a:spLocks noGrp="1"/>
          </p:cNvSpPr>
          <p:nvPr/>
        </p:nvSpPr>
        <p:spPr>
          <a:xfrm>
            <a:off x="5000625" y="581025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F1F0E9"/>
                </a:solidFill>
                <a:latin typeface="Arial"/>
                <a:ea typeface="Arial"/>
                <a:cs typeface="Arial"/>
              </a:rPr>
              <a:t>QA + Frontend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61F8B2-7E27-43C1-9069-79500E673779}"/>
              </a:ext>
            </a:extLst>
          </p:cNvPr>
          <p:cNvSpPr>
            <a:spLocks noGrp="1"/>
          </p:cNvSpPr>
          <p:nvPr/>
        </p:nvSpPr>
        <p:spPr>
          <a:xfrm>
            <a:off x="7762875" y="5810250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86A8FF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86A8FF"/>
                </a:solidFill>
                <a:latin typeface="Arial"/>
                <a:ea typeface="Arial"/>
                <a:cs typeface="Arial"/>
              </a:rPr>
              <a:t>МАТВЕЙ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C305F4-C908-48C1-AE32-035749B35BEA}"/>
              </a:ext>
            </a:extLst>
          </p:cNvPr>
          <p:cNvSpPr>
            <a:spLocks noGrp="1"/>
          </p:cNvSpPr>
          <p:nvPr/>
        </p:nvSpPr>
        <p:spPr>
          <a:xfrm>
            <a:off x="8667750" y="5810250"/>
            <a:ext cx="271462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F1F0E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1F0E9"/>
                </a:solidFill>
                <a:latin typeface="Arial"/>
                <a:ea typeface="Arial"/>
                <a:cs typeface="Arial"/>
              </a:rPr>
              <a:t>Team Lead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ED7F56-E2C2-D9A5-B2FC-9A7F37FB7C7B}"/>
              </a:ext>
            </a:extLst>
          </p:cNvPr>
          <p:cNvSpPr>
            <a:spLocks noGrp="1"/>
          </p:cNvSpPr>
          <p:nvPr/>
        </p:nvSpPr>
        <p:spPr>
          <a:xfrm>
            <a:off x="4095750" y="5967412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lang="ru-RU" sz="1125" b="1" dirty="0">
                <a:solidFill>
                  <a:srgbClr val="FF5148"/>
                </a:solidFill>
                <a:latin typeface="Arial"/>
                <a:ea typeface="Arial"/>
                <a:cs typeface="Arial"/>
              </a:rPr>
              <a:t>АНДРЕЙ</a:t>
            </a:r>
            <a:endParaRPr sz="1125" b="1" i="0" dirty="0">
              <a:solidFill>
                <a:srgbClr val="FF514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8182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20ADDB-D721-4BFA-B665-B2F825452CA8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95D46B-8385-469C-9FE4-AE4BD968E6C6}"/>
              </a:ext>
            </a:extLst>
          </p:cNvPr>
          <p:cNvSpPr>
            <a:spLocks noGrp="1"/>
          </p:cNvSpPr>
          <p:nvPr/>
        </p:nvSpPr>
        <p:spPr>
          <a:xfrm>
            <a:off x="1066800" y="2667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0B0C0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0C0D"/>
                </a:solidFill>
                <a:latin typeface="Arial"/>
                <a:ea typeface="Arial"/>
                <a:cs typeface="Arial"/>
              </a:rPr>
              <a:t>Аудит рекомендаций к подготовке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2357C-8D6F-462F-8169-6DA6D897CB6C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9525"/>
          </a:xfrm>
          <a:prstGeom prst="rect">
            <a:avLst/>
          </a:prstGeom>
          <a:solidFill>
            <a:srgbClr val="C8C8C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BB970-FDC3-43D3-B1C4-1844576692A4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787A7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87A76"/>
                </a:solidFill>
                <a:latin typeface="Arial"/>
                <a:ea typeface="Arial"/>
                <a:cs typeface="Arial"/>
              </a:rPr>
              <a:t>ДЯХАНEXCHANGE, G1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415C57-4B3E-4FA5-847E-262A2C6E26FA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1" i="0">
                <a:solidFill>
                  <a:srgbClr val="787A76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87A76"/>
                </a:solidFill>
                <a:latin typeface="Arial"/>
                <a:ea typeface="Arial"/>
                <a:cs typeface="Arial"/>
              </a:rPr>
              <a:t>17.09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457200" y="1162050"/>
          <a:ext cx="11277600" cy="44958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Пункт</a:t>
                      </a:r>
                    </a:p>
                  </a:txBody>
                  <a:tcPr marL="95250" marR="95250" marT="47625" marB="47625" anchor="ctr">
                    <a:solidFill>
                      <a:srgbClr val="0B0C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Статус</a:t>
                      </a:r>
                    </a:p>
                  </a:txBody>
                  <a:tcPr marL="95250" marR="95250" marT="47625" marB="47625" anchor="ctr">
                    <a:solidFill>
                      <a:srgbClr val="0B0C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D9FF37"/>
                          </a:solidFill>
                          <a:latin typeface="Arial"/>
                          <a:ea typeface="Arial"/>
                          <a:cs typeface="Arial"/>
                        </a:rPr>
                        <a:t>Что осталось</a:t>
                      </a:r>
                    </a:p>
                  </a:txBody>
                  <a:tcPr marL="95250" marR="95250" marT="47625" marB="47625" anchor="ctr">
                    <a:solidFill>
                      <a:srgbClr val="0B0C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Образ проекта, роли, авторизация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5C2A"/>
                          </a:solidFill>
                          <a:latin typeface="Arial"/>
                          <a:ea typeface="Arial"/>
                          <a:cs typeface="Arial"/>
                        </a:rPr>
                        <a:t>ГОТОВО</a:t>
                      </a:r>
                    </a:p>
                  </a:txBody>
                  <a:tcPr marL="95250" marR="95250" marT="47625" marB="47625" anchor="ctr">
                    <a:solidFill>
                      <a:srgbClr val="D8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Показано в презентации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Пошаговый user flow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A4E00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ПОДГОТОВЛЕНО</a:t>
                      </a:r>
                    </a:p>
                  </a:txBody>
                  <a:tcPr marL="95250" marR="95250" marT="47625" marB="47625" anchor="ctr"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Командный walkthrough happy path и ошибок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Поток данных и модули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A4E00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ПОДГОТОВЛЕНО</a:t>
                      </a:r>
                    </a:p>
                  </a:txBody>
                  <a:tcPr marL="95250" marR="95250" marT="47625" marB="47625" anchor="ctr"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Подтвердить границы NestJS и Spring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План на две недели и DoD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5C2A"/>
                          </a:solidFill>
                          <a:latin typeface="Arial"/>
                          <a:ea typeface="Arial"/>
                          <a:cs typeface="Arial"/>
                        </a:rPr>
                        <a:t>ГОТОВО</a:t>
                      </a:r>
                    </a:p>
                  </a:txBody>
                  <a:tcPr marL="95250" marR="95250" marT="47625" marB="47625" anchor="ctr">
                    <a:solidFill>
                      <a:srgbClr val="D8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Ян, Даниил и Матвей получили по 5 задач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Созвон и процессные решения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1E18"/>
                          </a:solidFill>
                          <a:latin typeface="Arial"/>
                          <a:ea typeface="Arial"/>
                          <a:cs typeface="Arial"/>
                        </a:rPr>
                        <a:t>НУЖНА КОМАНДА</a:t>
                      </a:r>
                    </a:p>
                  </a:txBody>
                  <a:tcPr marL="95250" marR="95250" marT="47625" marB="47625" anchor="ctr">
                    <a:solidFill>
                      <a:srgbClr val="FFD8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Подтвердить monorepo, review и tracker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Совместная доска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1E18"/>
                          </a:solidFill>
                          <a:latin typeface="Arial"/>
                          <a:ea typeface="Arial"/>
                          <a:cs typeface="Arial"/>
                        </a:rPr>
                        <a:t>ВНЕШНЕЕ ДЕЙСТВИЕ</a:t>
                      </a:r>
                    </a:p>
                  </a:txBody>
                  <a:tcPr marL="95250" marR="95250" marT="47625" marB="47625" anchor="ctr">
                    <a:solidFill>
                      <a:srgbClr val="FFD8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Перенести flow в FigJam/Excalidraw и дать доступ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Согласование с преподавателем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1E18"/>
                          </a:solidFill>
                          <a:latin typeface="Arial"/>
                          <a:ea typeface="Arial"/>
                          <a:cs typeface="Arial"/>
                        </a:rPr>
                        <a:t>ВНЕШНЕЕ ДЕЙСТВИЕ</a:t>
                      </a:r>
                    </a:p>
                  </a:txBody>
                  <a:tcPr marL="95250" marR="95250" marT="47625" marB="47625" anchor="ctr">
                    <a:solidFill>
                      <a:srgbClr val="FFD8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0C0D"/>
                          </a:solidFill>
                          <a:latin typeface="Arial"/>
                          <a:ea typeface="Arial"/>
                          <a:cs typeface="Arial"/>
                        </a:rPr>
                        <a:t>Отправить пять подготовленных вопросов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92F5A92-32AC-4383-9803-C5AF24485215}"/>
              </a:ext>
            </a:extLst>
          </p:cNvPr>
          <p:cNvSpPr>
            <a:spLocks noGrp="1"/>
          </p:cNvSpPr>
          <p:nvPr/>
        </p:nvSpPr>
        <p:spPr>
          <a:xfrm>
            <a:off x="590550" y="592455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514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5148"/>
                </a:solidFill>
                <a:latin typeface="Arial"/>
                <a:ea typeface="Arial"/>
                <a:cs typeface="Arial"/>
              </a:rPr>
              <a:t>Формально пакет станет полным после созвона, совместной доски, переноса задач в трекер и ответа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185940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Microsoft Office PowerPoint</Application>
  <DocSecurity>0</DocSecurity>
  <PresentationFormat>Widescreen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Кульдпере Андрей Игоревич</cp:lastModifiedBy>
  <cp:revision>1</cp:revision>
  <dcterms:created xsi:type="dcterms:W3CDTF">2026-09-16T20:03:21Z</dcterms:created>
  <dcterms:modified xsi:type="dcterms:W3CDTF">2026-10-14T16:50:08Z</dcterms:modified>
</cp:coreProperties>
</file>